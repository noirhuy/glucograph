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Trường Công Nghệ Số Và Trí Tuệ Nhân Tạo  ·  Trường Đại Học Nam Cần Thơ  ·  2026</a:t>
            </a:r>
          </a:p>
        </p:txBody>
      </p:sp>
      <p:sp>
        <p:nvSpPr>
          <p:cNvPr id="4" name="TextBox 3"/>
          <p:cNvSpPr txBox="1"/>
          <p:nvPr/>
        </p:nvSpPr>
        <p:spPr>
          <a:xfrm>
            <a:off x="731520" y="914400"/>
            <a:ext cx="10698480" cy="4572000"/>
          </a:xfrm>
          <a:prstGeom prst="rect">
            <a:avLst/>
          </a:prstGeom>
          <a:noFill/>
        </p:spPr>
        <p:txBody>
          <a:bodyPr wrap="square">
            <a:spAutoFit/>
          </a:bodyPr>
          <a:lstStyle/>
          <a:p>
            <a:pPr algn="l">
              <a:spcBef>
                <a:spcPts val="0"/>
              </a:spcBef>
              <a:defRPr sz="2000" b="1" i="0">
                <a:solidFill>
                  <a:srgbClr val="646464"/>
                </a:solidFill>
                <a:latin typeface="Arial"/>
              </a:defRPr>
            </a:pPr>
            <a:r>
              <a:t>ĐỀ CƯƠNG ĐĂNG KÝ ĐỀ TÀI</a:t>
            </a:r>
          </a:p>
          <a:p>
            <a:pPr algn="l">
              <a:spcBef>
                <a:spcPts val="400"/>
              </a:spcBef>
              <a:defRPr sz="2000" b="1" i="0">
                <a:solidFill>
                  <a:srgbClr val="646464"/>
                </a:solidFill>
                <a:latin typeface="Arial"/>
              </a:defRPr>
            </a:pPr>
            <a:r>
              <a:t>KHOA HỌC VÀ CÔNG NGHỆ CẤP CƠ SỞ</a:t>
            </a:r>
          </a:p>
        </p:txBody>
      </p:sp>
      <p:sp>
        <p:nvSpPr>
          <p:cNvPr id="5" name="TextBox 4"/>
          <p:cNvSpPr txBox="1"/>
          <p:nvPr/>
        </p:nvSpPr>
        <p:spPr>
          <a:xfrm>
            <a:off x="731520" y="2011680"/>
            <a:ext cx="10698480" cy="4572000"/>
          </a:xfrm>
          <a:prstGeom prst="rect">
            <a:avLst/>
          </a:prstGeom>
          <a:noFill/>
        </p:spPr>
        <p:txBody>
          <a:bodyPr wrap="square">
            <a:spAutoFit/>
          </a:bodyPr>
          <a:lstStyle/>
          <a:p>
            <a:pPr algn="l">
              <a:spcBef>
                <a:spcPts val="0"/>
              </a:spcBef>
              <a:defRPr sz="3600" b="1" i="0">
                <a:solidFill>
                  <a:srgbClr val="006699"/>
                </a:solidFill>
                <a:latin typeface="Arial"/>
              </a:defRPr>
            </a:pPr>
            <a:r>
              <a:t>Ứng Dụng LLM Xây Dựng Đồ Thị Tri Thức</a:t>
            </a:r>
          </a:p>
          <a:p>
            <a:pPr algn="l">
              <a:spcBef>
                <a:spcPts val="400"/>
              </a:spcBef>
              <a:defRPr sz="3600" b="1" i="0">
                <a:solidFill>
                  <a:srgbClr val="006699"/>
                </a:solidFill>
                <a:latin typeface="Arial"/>
              </a:defRPr>
            </a:pPr>
            <a:r>
              <a:t>Hỗ Trợ Chẩn Đoán Bệnh Tiểu Đường</a:t>
            </a:r>
          </a:p>
        </p:txBody>
      </p:sp>
      <p:sp>
        <p:nvSpPr>
          <p:cNvPr id="6" name="TextBox 5"/>
          <p:cNvSpPr txBox="1"/>
          <p:nvPr/>
        </p:nvSpPr>
        <p:spPr>
          <a:xfrm>
            <a:off x="731520" y="4114800"/>
            <a:ext cx="10698480" cy="4572000"/>
          </a:xfrm>
          <a:prstGeom prst="rect">
            <a:avLst/>
          </a:prstGeom>
          <a:noFill/>
        </p:spPr>
        <p:txBody>
          <a:bodyPr wrap="square">
            <a:spAutoFit/>
          </a:bodyPr>
          <a:lstStyle/>
          <a:p>
            <a:pPr>
              <a:spcBef>
                <a:spcPts val="0"/>
              </a:spcBef>
              <a:defRPr sz="1600" b="0" i="0">
                <a:solidFill>
                  <a:srgbClr val="646464"/>
                </a:solidFill>
                <a:latin typeface="Arial"/>
              </a:defRPr>
            </a:pPr>
            <a:r>
              <a:t>Chủ nhiệm: Lê Quang Huy  ·  Lớp: DH22KPM01  ·  Khóa: 10</a:t>
            </a:r>
          </a:p>
          <a:p>
            <a:pPr>
              <a:spcBef>
                <a:spcPts val="400"/>
              </a:spcBef>
              <a:defRPr sz="1600" b="0" i="0">
                <a:solidFill>
                  <a:srgbClr val="646464"/>
                </a:solidFill>
                <a:latin typeface="Arial"/>
              </a:defRPr>
            </a:pPr>
            <a:r>
              <a:t>Thành viên: Lưu An Thuận (Thư ký), Lưu Vỹ Thuận, Nguyễn Văn Hồ</a:t>
            </a:r>
          </a:p>
          <a:p>
            <a:pPr>
              <a:spcBef>
                <a:spcPts val="400"/>
              </a:spcBef>
              <a:defRPr sz="1600" b="0" i="0">
                <a:solidFill>
                  <a:srgbClr val="646464"/>
                </a:solidFill>
                <a:latin typeface="Arial"/>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1. TỔNG QUAN &amp; ĐẶT VẤN ĐỀ</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Bối cảnh:</a:t>
            </a:r>
          </a:p>
          <a:p>
            <a:pPr>
              <a:spcBef>
                <a:spcPts val="400"/>
              </a:spcBef>
              <a:defRPr sz="1500" b="0" i="0">
                <a:solidFill>
                  <a:srgbClr val="1E1E1E"/>
                </a:solidFill>
                <a:latin typeface="Arial"/>
              </a:defRPr>
            </a:pPr>
            <a:r>
              <a:t>Trong kỷ nguyên y tế số, việc tự động khai thác tri thức từ y văn chuyên sâu đòi hỏi độ chính xác sinh y học tuyệt đối. Đồ thị tri thức (KG) là giải pháp hàng đầu để biểu diễn tri thức y sinh minh bạch, hỗ trợ lập luận lâm sàng có thể giải thích (Explainable AI).</a:t>
            </a:r>
          </a:p>
          <a:p>
            <a:pPr>
              <a:spcBef>
                <a:spcPts val="400"/>
              </a:spcBef>
              <a:defRPr sz="1500" b="0" i="0">
                <a:solidFill>
                  <a:srgbClr val="1E1E1E"/>
                </a:solidFill>
                <a:latin typeface="Arial"/>
              </a:defRPr>
            </a:pPr>
          </a:p>
          <a:p>
            <a:pPr>
              <a:spcBef>
                <a:spcPts val="400"/>
              </a:spcBef>
              <a:defRPr sz="1600" b="1" i="0">
                <a:solidFill>
                  <a:srgbClr val="C83C1E"/>
                </a:solidFill>
                <a:latin typeface="Arial"/>
              </a:defRPr>
            </a:pPr>
            <a:r>
              <a:t>Rào cản khi sử dụng LLM độc lập:</a:t>
            </a:r>
          </a:p>
          <a:p>
            <a:pPr>
              <a:spcBef>
                <a:spcPts val="400"/>
              </a:spcBef>
              <a:defRPr sz="1500" b="0" i="0">
                <a:solidFill>
                  <a:srgbClr val="1E1E1E"/>
                </a:solidFill>
                <a:latin typeface="Arial"/>
              </a:defRPr>
            </a:pPr>
            <a:r>
              <a:t>•  Hiện tượng ảo giác (hallucination): LLM sinh câu trả lời tự tin nhưng sai lệch phác đồ điều trị [1].</a:t>
            </a:r>
          </a:p>
          <a:p>
            <a:pPr>
              <a:spcBef>
                <a:spcPts val="400"/>
              </a:spcBef>
              <a:defRPr sz="1500" b="0" i="0">
                <a:solidFill>
                  <a:srgbClr val="1E1E1E"/>
                </a:solidFill>
                <a:latin typeface="Arial"/>
              </a:defRPr>
            </a:pPr>
            <a:r>
              <a:t>•  Thiếu kiểm chứng nguồn gốc: Câu trả lời không có bằng chứng y học lâm sàng bảo chứng.</a:t>
            </a:r>
          </a:p>
          <a:p>
            <a:pPr>
              <a:spcBef>
                <a:spcPts val="400"/>
              </a:spcBef>
              <a:defRPr sz="1500" b="0" i="0">
                <a:solidFill>
                  <a:srgbClr val="1E1E1E"/>
                </a:solidFill>
                <a:latin typeface="Arial"/>
              </a:defRPr>
            </a:pPr>
            <a:r>
              <a:t>•  Không có ràng buộc lược đồ: Dễ trích xuất các quan hệ y khoa phi logic.</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Khoảng trống nghiên cứu:</a:t>
            </a:r>
          </a:p>
          <a:p>
            <a:pPr>
              <a:spcBef>
                <a:spcPts val="400"/>
              </a:spcBef>
              <a:defRPr sz="1500" b="0" i="0">
                <a:solidFill>
                  <a:srgbClr val="1E1E1E"/>
                </a:solidFill>
                <a:latin typeface="Arial"/>
              </a:defRPr>
            </a:pPr>
            <a:r>
              <a:t>Chưa có quy trình tự động hóa xây dựng KG chuyên biệt đái tháo đường dựa trên EDC có ràng buộc UMLS, phối hợp với cơ chế phản biện hội đồng đa tác nhân đồng cấp (P2P Debate Gate) tích hợp luật Veto lâm sàng.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2. MỤC TIÊU &amp; PHẠM VI NGHIÊN CỨU</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Mục tiêu chính:</a:t>
            </a:r>
          </a:p>
          <a:p>
            <a:pPr>
              <a:spcBef>
                <a:spcPts val="400"/>
              </a:spcBef>
              <a:defRPr sz="1500" b="0" i="0">
                <a:solidFill>
                  <a:srgbClr val="1E1E1E"/>
                </a:solidFill>
                <a:latin typeface="Arial"/>
              </a:defRPr>
            </a:pPr>
            <a:r>
              <a:t>Ứng dụng LLM xây dựng Đồ thị tri thức chuẩn hóa UMLS hỗ trợ chẩn đoán và suy luận lâm sàng an toàn cho bệnh tiểu đường.</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Mục tiêu cụ thể:</a:t>
            </a:r>
          </a:p>
          <a:p>
            <a:pPr>
              <a:spcBef>
                <a:spcPts val="400"/>
              </a:spcBef>
              <a:defRPr sz="1500" b="0" i="0">
                <a:solidFill>
                  <a:srgbClr val="1E1E1E"/>
                </a:solidFill>
                <a:latin typeface="Arial"/>
              </a:defRPr>
            </a:pPr>
            <a:r>
              <a:t>1.  Xây dựng pipeline tiền xử lý dữ liệu y văn từ Merck Manuals Professional Version.</a:t>
            </a:r>
          </a:p>
          <a:p>
            <a:pPr>
              <a:spcBef>
                <a:spcPts val="400"/>
              </a:spcBef>
              <a:defRPr sz="1500" b="0" i="0">
                <a:solidFill>
                  <a:srgbClr val="1E1E1E"/>
                </a:solidFill>
                <a:latin typeface="Arial"/>
              </a:defRPr>
            </a:pPr>
            <a:r>
              <a:t>2.  Hiện thực hóa quy trình trích xuất tri thức y khoa theo framework EDC, chuẩn hóa lược đồ UMLS.</a:t>
            </a:r>
          </a:p>
          <a:p>
            <a:pPr>
              <a:spcBef>
                <a:spcPts val="400"/>
              </a:spcBef>
              <a:defRPr sz="1500" b="0" i="0">
                <a:solidFill>
                  <a:srgbClr val="1E1E1E"/>
                </a:solidFill>
                <a:latin typeface="Arial"/>
              </a:defRPr>
            </a:pPr>
            <a:r>
              <a:t>3.  Thiết lập và tối ưu cơ sở dữ liệu đồ thị Neo4j lưu trữ tri thức đái tháo đường.</a:t>
            </a:r>
          </a:p>
          <a:p>
            <a:pPr>
              <a:spcBef>
                <a:spcPts val="400"/>
              </a:spcBef>
              <a:defRPr sz="1500" b="0" i="0">
                <a:solidFill>
                  <a:srgbClr val="1E1E1E"/>
                </a:solidFill>
                <a:latin typeface="Arial"/>
              </a:defRPr>
            </a:pPr>
            <a:r>
              <a:t>4.  Phát triển hệ thống đánh giá chất lượng đồ thị bằng giao thức phản biện Đa tác nhân (Multi-Agent Debate) [7][8].</a:t>
            </a:r>
          </a:p>
          <a:p>
            <a:pPr>
              <a:spcBef>
                <a:spcPts val="400"/>
              </a:spcBef>
              <a:defRPr sz="1500" b="0" i="0">
                <a:solidFill>
                  <a:srgbClr val="1E1E1E"/>
                </a:solidFill>
                <a:latin typeface="Arial"/>
              </a:defRPr>
            </a:pPr>
            <a:r>
              <a:t>5.  Triển khai demo ứng dụng CDSS tích hợp cơ chế ngắt mạch an toàn (Clinical Circuit Breaker).</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Phạm vi nghiên cứu:</a:t>
            </a:r>
          </a:p>
          <a:p>
            <a:pPr>
              <a:spcBef>
                <a:spcPts val="400"/>
              </a:spcBef>
              <a:defRPr sz="1500" b="0" i="0">
                <a:solidFill>
                  <a:srgbClr val="1E1E1E"/>
                </a:solidFill>
                <a:latin typeface="Arial"/>
              </a:defRPr>
            </a:pPr>
            <a:r>
              <a:t>•  Đối tượng: Quy trình trích xuất, chuẩn hóa tri thức UMLS &amp; giao thức thẩm định đa tác nhân.</a:t>
            </a:r>
          </a:p>
          <a:p>
            <a:pPr>
              <a:spcBef>
                <a:spcPts val="400"/>
              </a:spcBef>
              <a:defRPr sz="1500" b="0" i="0">
                <a:solidFill>
                  <a:srgbClr val="1E1E1E"/>
                </a:solidFill>
                <a:latin typeface="Arial"/>
              </a:defRPr>
            </a:pPr>
            <a:r>
              <a:t>•  Dữ liệu: Y văn Merck Manuals Professional Version (chuyên mục Đái tháo đường).</a:t>
            </a:r>
          </a:p>
          <a:p>
            <a:pPr>
              <a:spcBef>
                <a:spcPts val="400"/>
              </a:spcBef>
              <a:defRPr sz="1500" b="0" i="0">
                <a:solidFill>
                  <a:srgbClr val="1E1E1E"/>
                </a:solidFill>
                <a:latin typeface="Arial"/>
              </a:defRPr>
            </a:pPr>
            <a:r>
              <a:t>•  Giới hạn: CDSS &amp; Circuit Breaker chỉ ở quy mô demo thực nghiệm giả lập (Lab environment).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3. PHƯƠNG PHÁP NGHIÊN CỨU</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Phương pháp nghiên cứu lý thuyết:</a:t>
            </a:r>
          </a:p>
          <a:p>
            <a:pPr>
              <a:spcBef>
                <a:spcPts val="400"/>
              </a:spcBef>
              <a:defRPr sz="1500" b="0" i="0">
                <a:solidFill>
                  <a:srgbClr val="1E1E1E"/>
                </a:solidFill>
                <a:latin typeface="Arial"/>
              </a:defRPr>
            </a:pPr>
            <a:r>
              <a:t>•  Khảo sát y văn lâm sàng từ Merck Manuals và tài liệu chuẩn hóa UMLS.</a:t>
            </a:r>
          </a:p>
          <a:p>
            <a:pPr>
              <a:spcBef>
                <a:spcPts val="400"/>
              </a:spcBef>
              <a:defRPr sz="1500" b="0" i="0">
                <a:solidFill>
                  <a:srgbClr val="1E1E1E"/>
                </a:solidFill>
                <a:latin typeface="Arial"/>
              </a:defRPr>
            </a:pPr>
            <a:r>
              <a:t>•  Nghiên cứu Đồ thị tri thức (KG), GraphRAG, và cơ chế tranh luận đa tác nhân (Multi-Agent Debate).</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Phương pháp thực nghiệm (Xây dựng hệ thống):</a:t>
            </a:r>
          </a:p>
          <a:p>
            <a:pPr>
              <a:spcBef>
                <a:spcPts val="400"/>
              </a:spcBef>
              <a:defRPr sz="1500" b="0" i="0">
                <a:solidFill>
                  <a:srgbClr val="1E1E1E"/>
                </a:solidFill>
                <a:latin typeface="Arial"/>
              </a:defRPr>
            </a:pPr>
            <a:r>
              <a:t>•  Tiền xử lý: Thu thập y văn Merck Manuals, loại bỏ ký tự đặc biệt &amp; ký hiệu nhiễu để làm sạch văn bản.</a:t>
            </a:r>
          </a:p>
          <a:p>
            <a:pPr>
              <a:spcBef>
                <a:spcPts val="400"/>
              </a:spcBef>
              <a:defRPr sz="1500" b="0" i="0">
                <a:solidFill>
                  <a:srgbClr val="1E1E1E"/>
                </a:solidFill>
                <a:latin typeface="Arial"/>
              </a:defRPr>
            </a:pPr>
            <a:r>
              <a:t>•  Lập trình hệ thống: Thiết lập Neo4j + Cypher; module trích xuất EDC chuẩn hóa UMLS CUI; Web demo CDSS (FastAPI + ReactJS).</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Phương pháp đánh giá &amp; kiểm chứng:</a:t>
            </a:r>
          </a:p>
          <a:p>
            <a:pPr>
              <a:spcBef>
                <a:spcPts val="400"/>
              </a:spcBef>
              <a:defRPr sz="1500" b="0" i="0">
                <a:solidFill>
                  <a:srgbClr val="1E1E1E"/>
                </a:solidFill>
                <a:latin typeface="Arial"/>
              </a:defRPr>
            </a:pPr>
            <a:r>
              <a:t>•  Thẩm định tự động: Cơ chế Đa tác nhân đồng cấp (P2P Debate Gate) – đồng thuận FCS &amp; Veto lâm sàng.</a:t>
            </a:r>
          </a:p>
          <a:p>
            <a:pPr>
              <a:spcBef>
                <a:spcPts val="400"/>
              </a:spcBef>
              <a:defRPr sz="1500" b="0" i="0">
                <a:solidFill>
                  <a:srgbClr val="1E1E1E"/>
                </a:solidFill>
                <a:latin typeface="Arial"/>
              </a:defRPr>
            </a:pPr>
            <a:r>
              <a:t>•  Kiểm thử định lượng: Precision, Recall, F1-Score trên ba cấp độ (Exact / Strict / Partial Match).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4. NỘI DUNG 1 &amp; 2: LÝ THUYẾT + TIỀN XỬ LÝ DỮ LIỆU</a:t>
            </a:r>
          </a:p>
        </p:txBody>
      </p:sp>
      <p:sp>
        <p:nvSpPr>
          <p:cNvPr id="5" name="Rectangle 4"/>
          <p:cNvSpPr/>
          <p:nvPr/>
        </p:nvSpPr>
        <p:spPr>
          <a:xfrm>
            <a:off x="457200" y="1188720"/>
            <a:ext cx="5394960" cy="3200400"/>
          </a:xfrm>
          <a:prstGeom prst="rect">
            <a:avLst/>
          </a:prstGeom>
          <a:solidFill>
            <a:srgbClr val="F0F8FF"/>
          </a:solidFill>
          <a:ln w="127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5029200" cy="2926080"/>
          </a:xfrm>
          <a:prstGeom prst="rect">
            <a:avLst/>
          </a:prstGeom>
          <a:noFill/>
        </p:spPr>
        <p:txBody>
          <a:bodyPr wrap="square">
            <a:spAutoFit/>
          </a:bodyPr>
          <a:lstStyle/>
          <a:p>
            <a:pPr>
              <a:spcBef>
                <a:spcPts val="300"/>
              </a:spcBef>
              <a:defRPr sz="1500" b="1" i="0">
                <a:solidFill>
                  <a:srgbClr val="006699"/>
                </a:solidFill>
                <a:latin typeface="Arial"/>
              </a:defRPr>
            </a:pPr>
            <a:r>
              <a:t>Nội dung 1 – Khảo sát lý thuyết:</a:t>
            </a:r>
          </a:p>
          <a:p>
            <a:pPr>
              <a:spcBef>
                <a:spcPts val="300"/>
              </a:spcBef>
              <a:defRPr sz="1500" b="0" i="0">
                <a:solidFill>
                  <a:srgbClr val="1E1E1E"/>
                </a:solidFill>
                <a:latin typeface="Arial"/>
              </a:defRPr>
            </a:pPr>
            <a:r>
              <a:t>•  Đồ thị tri thức (KG): Cấu trúc (Entities, Relations, Properties), Lược đồ đồ thị (Graph Schema).</a:t>
            </a:r>
          </a:p>
          <a:p>
            <a:pPr>
              <a:spcBef>
                <a:spcPts val="300"/>
              </a:spcBef>
              <a:defRPr sz="1500" b="0" i="0">
                <a:solidFill>
                  <a:srgbClr val="1E1E1E"/>
                </a:solidFill>
                <a:latin typeface="Arial"/>
              </a:defRPr>
            </a:pPr>
            <a:r>
              <a:t>•  GraphRAG: Kiến trúc kết hợp CSDL đồ thị + LLM, khắc phục hạn chế mất mát thông tin của RAG vector.</a:t>
            </a:r>
          </a:p>
          <a:p>
            <a:pPr>
              <a:spcBef>
                <a:spcPts val="300"/>
              </a:spcBef>
              <a:defRPr sz="1500" b="0" i="0">
                <a:solidFill>
                  <a:srgbClr val="1E1E1E"/>
                </a:solidFill>
                <a:latin typeface="Arial"/>
              </a:defRPr>
            </a:pPr>
            <a:r>
              <a:t>•  Multi-Agent Debate: Cơ chế đàm thoại, phản biện, đồng thuận giữa các tác nhân AI y khoa [7][8].</a:t>
            </a:r>
          </a:p>
        </p:txBody>
      </p:sp>
      <p:sp>
        <p:nvSpPr>
          <p:cNvPr id="7" name="Rectangle 6"/>
          <p:cNvSpPr/>
          <p:nvPr/>
        </p:nvSpPr>
        <p:spPr>
          <a:xfrm>
            <a:off x="6309360" y="1188720"/>
            <a:ext cx="5394960" cy="3200400"/>
          </a:xfrm>
          <a:prstGeom prst="rect">
            <a:avLst/>
          </a:prstGeom>
          <a:solidFill>
            <a:srgbClr val="F0F8FF"/>
          </a:solidFill>
          <a:ln w="127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25880"/>
            <a:ext cx="5029200" cy="2926080"/>
          </a:xfrm>
          <a:prstGeom prst="rect">
            <a:avLst/>
          </a:prstGeom>
          <a:noFill/>
        </p:spPr>
        <p:txBody>
          <a:bodyPr wrap="square">
            <a:spAutoFit/>
          </a:bodyPr>
          <a:lstStyle/>
          <a:p>
            <a:pPr>
              <a:spcBef>
                <a:spcPts val="300"/>
              </a:spcBef>
              <a:defRPr sz="1500" b="1" i="0">
                <a:solidFill>
                  <a:srgbClr val="006699"/>
                </a:solidFill>
                <a:latin typeface="Arial"/>
              </a:defRPr>
            </a:pPr>
            <a:r>
              <a:t>Nội dung 2 – Tiền xử lý dữ liệu lâm sàng:</a:t>
            </a:r>
          </a:p>
          <a:p>
            <a:pPr>
              <a:spcBef>
                <a:spcPts val="300"/>
              </a:spcBef>
              <a:defRPr sz="1500" b="0" i="0">
                <a:solidFill>
                  <a:srgbClr val="1E1E1E"/>
                </a:solidFill>
                <a:latin typeface="Arial"/>
              </a:defRPr>
            </a:pPr>
            <a:r>
              <a:t>•  Nguồn dữ liệu: Cẩm nang Merck Manuals Professional Version (Điều trị Đái tháo đường).</a:t>
            </a:r>
          </a:p>
          <a:p>
            <a:pPr>
              <a:spcBef>
                <a:spcPts val="300"/>
              </a:spcBef>
              <a:defRPr sz="1500" b="0" i="0">
                <a:solidFill>
                  <a:srgbClr val="1E1E1E"/>
                </a:solidFill>
                <a:latin typeface="Arial"/>
              </a:defRPr>
            </a:pPr>
            <a:r>
              <a:t>•  Thu thập &amp; phân đoạn: Phân tách văn bản y văn dạng văn xuôi theo chủ đề điều trị.</a:t>
            </a:r>
          </a:p>
          <a:p>
            <a:pPr>
              <a:spcBef>
                <a:spcPts val="300"/>
              </a:spcBef>
              <a:defRPr sz="1500" b="0" i="0">
                <a:solidFill>
                  <a:srgbClr val="1E1E1E"/>
                </a:solidFill>
                <a:latin typeface="Arial"/>
              </a:defRPr>
            </a:pPr>
            <a:r>
              <a:t>•  Làm sạch: Loại bỏ ký tự đặc biệt, thẻ HTML, ký hiệu nhiễu để giữ lại câu văn sạch cho LLM.</a:t>
            </a:r>
          </a:p>
        </p:txBody>
      </p:sp>
      <p:sp>
        <p:nvSpPr>
          <p:cNvPr id="9" name="TextBox 8"/>
          <p:cNvSpPr txBox="1"/>
          <p:nvPr/>
        </p:nvSpPr>
        <p:spPr>
          <a:xfrm>
            <a:off x="731520" y="4754880"/>
            <a:ext cx="10698480" cy="4572000"/>
          </a:xfrm>
          <a:prstGeom prst="rect">
            <a:avLst/>
          </a:prstGeom>
          <a:noFill/>
        </p:spPr>
        <p:txBody>
          <a:bodyPr wrap="square">
            <a:spAutoFit/>
          </a:bodyPr>
          <a:lstStyle/>
          <a:p>
            <a:pPr>
              <a:spcBef>
                <a:spcPts val="400"/>
              </a:spcBef>
              <a:defRPr sz="1400" b="0" i="1">
                <a:solidFill>
                  <a:srgbClr val="646464"/>
                </a:solidFill>
                <a:latin typeface="Arial"/>
              </a:defRPr>
            </a:pPr>
            <a:r>
              <a:t>→  Kết quả: Văn bản lâm sàng sạch, chuẩn mực, tối ưu cho quá trình trích xuất tri thức bằng LLM.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5. NỘI DUNG 3: TRÍCH XUẤT TRI THỨC – EDC PIPELINE [5]</a:t>
            </a:r>
          </a:p>
        </p:txBody>
      </p:sp>
      <p:sp>
        <p:nvSpPr>
          <p:cNvPr id="5" name="TextBox 4"/>
          <p:cNvSpPr txBox="1"/>
          <p:nvPr/>
        </p:nvSpPr>
        <p:spPr>
          <a:xfrm>
            <a:off x="731520" y="1097280"/>
            <a:ext cx="6400800" cy="4572000"/>
          </a:xfrm>
          <a:prstGeom prst="rect">
            <a:avLst/>
          </a:prstGeom>
          <a:noFill/>
        </p:spPr>
        <p:txBody>
          <a:bodyPr wrap="square">
            <a:spAutoFit/>
          </a:bodyPr>
          <a:lstStyle/>
          <a:p>
            <a:pPr>
              <a:spcBef>
                <a:spcPts val="400"/>
              </a:spcBef>
              <a:defRPr sz="1600" b="1" i="0">
                <a:solidFill>
                  <a:srgbClr val="009988"/>
                </a:solidFill>
                <a:latin typeface="Arial"/>
              </a:defRPr>
            </a:pPr>
            <a:r>
              <a:t>Phase 1: Extract (Clinical OIE)</a:t>
            </a:r>
          </a:p>
          <a:p>
            <a:pPr>
              <a:spcBef>
                <a:spcPts val="400"/>
              </a:spcBef>
              <a:defRPr sz="1500" b="0" i="0">
                <a:solidFill>
                  <a:srgbClr val="1E1E1E"/>
                </a:solidFill>
                <a:latin typeface="Arial"/>
              </a:defRPr>
            </a:pPr>
            <a:r>
              <a:t>  LLM trích xuất mở, thu thập các triplet thô (Subject - Relation - Object) từ y văn Merck Manuals.</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Phase 2: Define (Semantic Definition)</a:t>
            </a:r>
          </a:p>
          <a:p>
            <a:pPr>
              <a:spcBef>
                <a:spcPts val="400"/>
              </a:spcBef>
              <a:defRPr sz="1500" b="0" i="0">
                <a:solidFill>
                  <a:srgbClr val="1E1E1E"/>
                </a:solidFill>
                <a:latin typeface="Arial"/>
              </a:defRPr>
            </a:pPr>
            <a:r>
              <a:t>  LLM sinh định nghĩa ngữ nghĩa cho thực thể &amp; mối quan hệ, bảo toàn ngữ cảnh y văn gốc.</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Phase 3: Canonicalize (Ontology Mapping)</a:t>
            </a:r>
          </a:p>
          <a:p>
            <a:pPr>
              <a:spcBef>
                <a:spcPts val="400"/>
              </a:spcBef>
              <a:defRPr sz="1500" b="0" i="0">
                <a:solidFill>
                  <a:srgbClr val="1E1E1E"/>
                </a:solidFill>
                <a:latin typeface="Arial"/>
              </a:defRPr>
            </a:pPr>
            <a:r>
              <a:t>  3a – Relation Canonicalization: Chuẩn hóa quan hệ về diabetes_schema.csv bằng Cosine Similarity.</a:t>
            </a:r>
          </a:p>
          <a:p>
            <a:pPr>
              <a:spcBef>
                <a:spcPts val="400"/>
              </a:spcBef>
              <a:defRPr sz="1500" b="0" i="0">
                <a:solidFill>
                  <a:srgbClr val="1E1E1E"/>
                </a:solidFill>
                <a:latin typeface="Arial"/>
              </a:defRPr>
            </a:pPr>
            <a:r>
              <a:t>  3b – Entity-Type Canonicalization: Ánh xạ thực thể về kiểu chuẩn UMLS (diabetes_entity_type_schema.csv).</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Phase 4: Property Packing (Đóng gói thuộc tính)</a:t>
            </a:r>
          </a:p>
          <a:p>
            <a:pPr>
              <a:spcBef>
                <a:spcPts val="400"/>
              </a:spcBef>
              <a:defRPr sz="1500" b="0" i="0">
                <a:solidFill>
                  <a:srgbClr val="1E1E1E"/>
                </a:solidFill>
                <a:latin typeface="Arial"/>
              </a:defRPr>
            </a:pPr>
            <a:r>
              <a:t>  Module PropertyPacker: Ánh xạ offline mã UMLS CUI, RxNorm (thuốc), ICD-10 (bệnh), mô tả lâm sàng.</a:t>
            </a:r>
          </a:p>
          <a:p>
            <a:pPr>
              <a:spcBef>
                <a:spcPts val="400"/>
              </a:spcBef>
              <a:defRPr sz="1500" b="0" i="0">
                <a:solidFill>
                  <a:srgbClr val="1E1E1E"/>
                </a:solidFill>
                <a:latin typeface="Arial"/>
              </a:defRPr>
            </a:pPr>
            <a:r>
              <a:t>  Khử trùng lặp mã định danh → Xuất tệp JSON đồ thị chất lượng cao.</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Thiết lập CSDL đồ thị Neo4j: Nạp dữ liệu bằng truy vấn Cypher tối ưu, đảm bảo tính liên kết toàn vẹn.</a:t>
            </a:r>
          </a:p>
        </p:txBody>
      </p:sp>
      <p:sp>
        <p:nvSpPr>
          <p:cNvPr id="6" name="Rectangle 5"/>
          <p:cNvSpPr/>
          <p:nvPr/>
        </p:nvSpPr>
        <p:spPr>
          <a:xfrm>
            <a:off x="7589520" y="1188720"/>
            <a:ext cx="4114800" cy="4572000"/>
          </a:xfrm>
          <a:prstGeom prst="rect">
            <a:avLst/>
          </a:prstGeom>
          <a:solidFill>
            <a:srgbClr val="F0F8FF"/>
          </a:solidFill>
          <a:ln w="1905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3749039" cy="4572000"/>
          </a:xfrm>
          <a:prstGeom prst="rect">
            <a:avLst/>
          </a:prstGeom>
          <a:noFill/>
        </p:spPr>
        <p:txBody>
          <a:bodyPr wrap="square">
            <a:spAutoFit/>
          </a:bodyPr>
          <a:lstStyle/>
          <a:p>
            <a:pPr algn="ctr">
              <a:spcBef>
                <a:spcPts val="400"/>
              </a:spcBef>
              <a:defRPr sz="1400" b="0" i="1">
                <a:solidFill>
                  <a:srgbClr val="646464"/>
                </a:solidFill>
                <a:latin typeface="Arial"/>
              </a:defRPr>
            </a:pPr>
            <a:r>
              <a:t>[ Chèn hình ảnh</a:t>
            </a:r>
            <a:br/>
            <a:r>
              <a:t>edc_pipeline_actual_flow.png</a:t>
            </a:r>
            <a:br/>
            <a:r>
              <a:t>vào đây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6. NỘI DUNG 4: HỘI ĐỒNG ĐA TÁC NHÂN ĐỒNG CẤP (P2P DEBATE GATE)</a:t>
            </a:r>
          </a:p>
        </p:txBody>
      </p:sp>
      <p:sp>
        <p:nvSpPr>
          <p:cNvPr id="5" name="TextBox 4"/>
          <p:cNvSpPr txBox="1"/>
          <p:nvPr/>
        </p:nvSpPr>
        <p:spPr>
          <a:xfrm>
            <a:off x="731520" y="1097280"/>
            <a:ext cx="6400800" cy="4572000"/>
          </a:xfrm>
          <a:prstGeom prst="rect">
            <a:avLst/>
          </a:prstGeom>
          <a:noFill/>
        </p:spPr>
        <p:txBody>
          <a:bodyPr wrap="square">
            <a:spAutoFit/>
          </a:bodyPr>
          <a:lstStyle/>
          <a:p>
            <a:pPr>
              <a:spcBef>
                <a:spcPts val="400"/>
              </a:spcBef>
              <a:defRPr sz="1800" b="1" i="0">
                <a:solidFill>
                  <a:srgbClr val="006699"/>
                </a:solidFill>
                <a:latin typeface="Arial"/>
              </a:defRPr>
            </a:pPr>
            <a:r>
              <a:t>Kiến trúc Hội đồng thẩm định P2P [7][8]:</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1. Clinical Specialist Agent (CS – Llama-3.3-70B, trọng số 0.4)</a:t>
            </a:r>
          </a:p>
          <a:p>
            <a:pPr>
              <a:spcBef>
                <a:spcPts val="400"/>
              </a:spcBef>
              <a:defRPr sz="1500" b="0" i="0">
                <a:solidFill>
                  <a:srgbClr val="1E1E1E"/>
                </a:solidFill>
                <a:latin typeface="Arial"/>
              </a:defRPr>
            </a:pPr>
            <a:r>
              <a:t>   Thẩm định tính chính xác sinh học, dược lý lâm sàng dựa trên hướng dẫn ADA/EASD.</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2. Ontology Inspector Agent (OI – Llama-3.1-8B, trọng số 0.3)</a:t>
            </a:r>
          </a:p>
          <a:p>
            <a:pPr>
              <a:spcBef>
                <a:spcPts val="400"/>
              </a:spcBef>
              <a:defRPr sz="1500" b="0" i="0">
                <a:solidFill>
                  <a:srgbClr val="1E1E1E"/>
                </a:solidFill>
                <a:latin typeface="Arial"/>
              </a:defRPr>
            </a:pPr>
            <a:r>
              <a:t>   Đối chiếu lược đồ diabetes_schema.csv để kiểm tra ràng buộc Domain/Range.</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3. Medical Skeptic Agent (MS – Gemma-2-9B, trọng số 0.3)</a:t>
            </a:r>
          </a:p>
          <a:p>
            <a:pPr>
              <a:spcBef>
                <a:spcPts val="400"/>
              </a:spcBef>
              <a:defRPr sz="1500" b="0" i="0">
                <a:solidFill>
                  <a:srgbClr val="1E1E1E"/>
                </a:solidFill>
                <a:latin typeface="Arial"/>
              </a:defRPr>
            </a:pPr>
            <a:r>
              <a:t>   Phản biện ảo giác lâm sàng, lỗi NLP, loại bỏ thực thể nhiễu.</a:t>
            </a:r>
          </a:p>
          <a:p>
            <a:pPr>
              <a:spcBef>
                <a:spcPts val="400"/>
              </a:spcBef>
              <a:defRPr sz="1500" b="0" i="0">
                <a:solidFill>
                  <a:srgbClr val="1E1E1E"/>
                </a:solidFill>
                <a:latin typeface="Arial"/>
              </a:defRPr>
            </a:pPr>
          </a:p>
          <a:p>
            <a:pPr>
              <a:spcBef>
                <a:spcPts val="400"/>
              </a:spcBef>
              <a:defRPr sz="1600" b="1" i="0">
                <a:solidFill>
                  <a:srgbClr val="C83C1E"/>
                </a:solidFill>
                <a:latin typeface="Arial"/>
              </a:defRPr>
            </a:pPr>
            <a:r>
              <a:t>Cơ chế FCS &amp; Veto:</a:t>
            </a:r>
          </a:p>
          <a:p>
            <a:pPr>
              <a:spcBef>
                <a:spcPts val="400"/>
              </a:spcBef>
              <a:defRPr sz="1500" b="0" i="0">
                <a:solidFill>
                  <a:srgbClr val="1E1E1E"/>
                </a:solidFill>
                <a:latin typeface="Arial"/>
              </a:defRPr>
            </a:pPr>
            <a:r>
              <a:t>•  FCS = 0.4×CS + 0.3×OI + 0.3×MS  →  Triplet được duyệt khi FCS ≥ 80/100.</a:t>
            </a:r>
          </a:p>
          <a:p>
            <a:pPr>
              <a:spcBef>
                <a:spcPts val="400"/>
              </a:spcBef>
              <a:defRPr sz="1500" b="0" i="0">
                <a:solidFill>
                  <a:srgbClr val="1E1E1E"/>
                </a:solidFill>
                <a:latin typeface="Arial"/>
              </a:defRPr>
            </a:pPr>
            <a:r>
              <a:t>•  Veto: Bất kỳ Agent đánh giá [INCORRECT] với Confidence &gt; 70% → Bác bỏ lập tức.</a:t>
            </a:r>
          </a:p>
        </p:txBody>
      </p:sp>
      <p:sp>
        <p:nvSpPr>
          <p:cNvPr id="6" name="Rectangle 5"/>
          <p:cNvSpPr/>
          <p:nvPr/>
        </p:nvSpPr>
        <p:spPr>
          <a:xfrm>
            <a:off x="7589520" y="1188720"/>
            <a:ext cx="4114800" cy="4572000"/>
          </a:xfrm>
          <a:prstGeom prst="rect">
            <a:avLst/>
          </a:prstGeom>
          <a:solidFill>
            <a:srgbClr val="F0F8FF"/>
          </a:solidFill>
          <a:ln w="1905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3749039" cy="4572000"/>
          </a:xfrm>
          <a:prstGeom prst="rect">
            <a:avLst/>
          </a:prstGeom>
          <a:noFill/>
        </p:spPr>
        <p:txBody>
          <a:bodyPr wrap="square">
            <a:spAutoFit/>
          </a:bodyPr>
          <a:lstStyle/>
          <a:p>
            <a:pPr algn="ctr">
              <a:spcBef>
                <a:spcPts val="400"/>
              </a:spcBef>
              <a:defRPr sz="1400" b="0" i="1">
                <a:solidFill>
                  <a:srgbClr val="646464"/>
                </a:solidFill>
                <a:latin typeface="Arial"/>
              </a:defRPr>
            </a:pPr>
            <a:r>
              <a:t>[ Chèn hình ảnh</a:t>
            </a:r>
            <a:br/>
            <a:r>
              <a:t>multiagent_debate_framework.png</a:t>
            </a:r>
            <a:br/>
            <a:r>
              <a:t>vào đây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7. NỘI DUNG 5: ỨNG DỤNG CDSS &amp; CIRCUIT BREAKER (THỰC NGHIỆM)</a:t>
            </a:r>
          </a:p>
        </p:txBody>
      </p:sp>
      <p:sp>
        <p:nvSpPr>
          <p:cNvPr id="5" name="TextBox 4"/>
          <p:cNvSpPr txBox="1"/>
          <p:nvPr/>
        </p:nvSpPr>
        <p:spPr>
          <a:xfrm>
            <a:off x="731520" y="1097280"/>
            <a:ext cx="6400800" cy="4572000"/>
          </a:xfrm>
          <a:prstGeom prst="rect">
            <a:avLst/>
          </a:prstGeom>
          <a:noFill/>
        </p:spPr>
        <p:txBody>
          <a:bodyPr wrap="square">
            <a:spAutoFit/>
          </a:bodyPr>
          <a:lstStyle/>
          <a:p>
            <a:pPr>
              <a:spcBef>
                <a:spcPts val="400"/>
              </a:spcBef>
              <a:defRPr sz="1800" b="1" i="0">
                <a:solidFill>
                  <a:srgbClr val="006699"/>
                </a:solidFill>
                <a:latin typeface="Arial"/>
              </a:defRPr>
            </a:pPr>
            <a:r>
              <a:t>Backend CDSS &amp; Động cơ GraphRAG lai:</a:t>
            </a:r>
          </a:p>
          <a:p>
            <a:pPr>
              <a:spcBef>
                <a:spcPts val="400"/>
              </a:spcBef>
              <a:defRPr sz="1500" b="0" i="0">
                <a:solidFill>
                  <a:srgbClr val="1E1E1E"/>
                </a:solidFill>
                <a:latin typeface="Arial"/>
              </a:defRPr>
            </a:pPr>
            <a:r>
              <a:t>•  FastAPI điều phối truy vấn song song: Vector Search + Cypher truy vấn đồ thị Neo4j.</a:t>
            </a:r>
          </a:p>
          <a:p>
            <a:pPr>
              <a:spcBef>
                <a:spcPts val="400"/>
              </a:spcBef>
              <a:defRPr sz="1500" b="0" i="0">
                <a:solidFill>
                  <a:srgbClr val="1E1E1E"/>
                </a:solidFill>
                <a:latin typeface="Arial"/>
              </a:defRPr>
            </a:pPr>
            <a:r>
              <a:t>•  Ngữ cảnh đồ thị (Knowledge Paths) nhúng vào Prompt → LLM Llama-3.3-70B (Groq) sinh lời khuyên có kiểm chứng.</a:t>
            </a:r>
          </a:p>
          <a:p>
            <a:pPr>
              <a:spcBef>
                <a:spcPts val="400"/>
              </a:spcBef>
              <a:defRPr sz="1500" b="0" i="0">
                <a:solidFill>
                  <a:srgbClr val="1E1E1E"/>
                </a:solidFill>
                <a:latin typeface="Arial"/>
              </a:defRPr>
            </a:pPr>
          </a:p>
          <a:p>
            <a:pPr>
              <a:spcBef>
                <a:spcPts val="400"/>
              </a:spcBef>
              <a:defRPr sz="1600" b="1" i="0">
                <a:solidFill>
                  <a:srgbClr val="C83C1E"/>
                </a:solidFill>
                <a:latin typeface="Arial"/>
              </a:defRPr>
            </a:pPr>
            <a:r>
              <a:t>Bộ ngắt mạch y khoa (Clinical Circuit Breaker):</a:t>
            </a:r>
          </a:p>
          <a:p>
            <a:pPr>
              <a:spcBef>
                <a:spcPts val="400"/>
              </a:spcBef>
              <a:defRPr sz="1500" b="0" i="0">
                <a:solidFill>
                  <a:srgbClr val="1E1E1E"/>
                </a:solidFill>
                <a:latin typeface="Arial"/>
              </a:defRPr>
            </a:pPr>
            <a:r>
              <a:t>•  Quét thời gian thực: đối chiếu chống chỉ định (has_contraindicated_drug) &amp; bệnh kèm trên Neo4j.</a:t>
            </a:r>
          </a:p>
          <a:p>
            <a:pPr>
              <a:spcBef>
                <a:spcPts val="400"/>
              </a:spcBef>
              <a:defRPr sz="1500" b="0" i="0">
                <a:solidFill>
                  <a:srgbClr val="1E1E1E"/>
                </a:solidFill>
                <a:latin typeface="Arial"/>
              </a:defRPr>
            </a:pPr>
            <a:r>
              <a:t>•  Phát hiện rủi ro → Kích hoạt Cảnh báo đỏ (Red Alarm) → Chặn đơn thuốc nguy hại.</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Giao diện Web CDSS thực nghiệm (ReactJS):</a:t>
            </a:r>
          </a:p>
          <a:p>
            <a:pPr>
              <a:spcBef>
                <a:spcPts val="400"/>
              </a:spcBef>
              <a:defRPr sz="1500" b="0" i="0">
                <a:solidFill>
                  <a:srgbClr val="1E1E1E"/>
                </a:solidFill>
                <a:latin typeface="Arial"/>
              </a:defRPr>
            </a:pPr>
            <a:r>
              <a:t>•  Khung chat RAG y khoa, sơ đồ đồ thị Neo4j tương tác.</a:t>
            </a:r>
          </a:p>
          <a:p>
            <a:pPr>
              <a:spcBef>
                <a:spcPts val="400"/>
              </a:spcBef>
              <a:defRPr sz="1500" b="0" i="0">
                <a:solidFill>
                  <a:srgbClr val="1E1E1E"/>
                </a:solidFill>
                <a:latin typeface="Arial"/>
              </a:defRPr>
            </a:pPr>
            <a:r>
              <a:t>•  Bảng hồ sơ &amp; chỉ số lâm sàng bệnh nhân tiểu đường.</a:t>
            </a:r>
          </a:p>
          <a:p>
            <a:pPr>
              <a:spcBef>
                <a:spcPts val="400"/>
              </a:spcBef>
              <a:defRPr sz="1500" b="0" i="0">
                <a:solidFill>
                  <a:srgbClr val="1E1E1E"/>
                </a:solidFill>
                <a:latin typeface="Arial"/>
              </a:defRPr>
            </a:pPr>
            <a:r>
              <a:t>•  Khu vực cảnh báo nổi bật Circuit Breaker khi phát hiện tương tác thuốc nguy hiểm.</a:t>
            </a:r>
          </a:p>
        </p:txBody>
      </p:sp>
      <p:sp>
        <p:nvSpPr>
          <p:cNvPr id="6" name="Rectangle 5"/>
          <p:cNvSpPr/>
          <p:nvPr/>
        </p:nvSpPr>
        <p:spPr>
          <a:xfrm>
            <a:off x="7589520" y="1188720"/>
            <a:ext cx="4114800" cy="4572000"/>
          </a:xfrm>
          <a:prstGeom prst="rect">
            <a:avLst/>
          </a:prstGeom>
          <a:solidFill>
            <a:srgbClr val="F0F8FF"/>
          </a:solidFill>
          <a:ln w="1905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3749039" cy="4572000"/>
          </a:xfrm>
          <a:prstGeom prst="rect">
            <a:avLst/>
          </a:prstGeom>
          <a:noFill/>
        </p:spPr>
        <p:txBody>
          <a:bodyPr wrap="square">
            <a:spAutoFit/>
          </a:bodyPr>
          <a:lstStyle/>
          <a:p>
            <a:pPr algn="ctr">
              <a:spcBef>
                <a:spcPts val="400"/>
              </a:spcBef>
              <a:defRPr sz="1400" b="0" i="1">
                <a:solidFill>
                  <a:srgbClr val="646464"/>
                </a:solidFill>
                <a:latin typeface="Arial"/>
              </a:defRPr>
            </a:pPr>
            <a:r>
              <a:t>[ Chèn hình ảnh</a:t>
            </a:r>
            <a:br/>
            <a:r>
              <a:t>e2e_kg_pipeline.png</a:t>
            </a:r>
            <a:br/>
            <a:r>
              <a:t>vào đây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8. PHÂN CÔNG NHIỆM VỤ &amp; TIẾN ĐỘ</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Phân công công việc:</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Lê Quang Huy (Chủ nhiệm – 6 tháng):</a:t>
            </a:r>
          </a:p>
          <a:p>
            <a:pPr>
              <a:spcBef>
                <a:spcPts val="400"/>
              </a:spcBef>
              <a:defRPr sz="1500" b="0" i="0">
                <a:solidFill>
                  <a:srgbClr val="1E1E1E"/>
                </a:solidFill>
                <a:latin typeface="Arial"/>
              </a:defRPr>
            </a:pPr>
            <a:r>
              <a:t>  Thiết kế thuật toán EDC, GraphRAG; Quản lý tích hợp; Định hướng khoa học; Viết báo cáo.</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Lưu An Thuận (Thư ký – 5 tháng):</a:t>
            </a:r>
          </a:p>
          <a:p>
            <a:pPr>
              <a:spcBef>
                <a:spcPts val="400"/>
              </a:spcBef>
              <a:defRPr sz="1500" b="0" i="0">
                <a:solidFill>
                  <a:srgbClr val="1E1E1E"/>
                </a:solidFill>
                <a:latin typeface="Arial"/>
              </a:defRPr>
            </a:pPr>
            <a:r>
              <a:t>  Thu thập y văn Merck Manuals; Tiền xử lý &amp; làm sạch văn bản; Quản trị Neo4j &amp; Cypher.</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Lưu Vỹ Thuận (Thành viên – 5 tháng):</a:t>
            </a:r>
          </a:p>
          <a:p>
            <a:pPr>
              <a:spcBef>
                <a:spcPts val="400"/>
              </a:spcBef>
              <a:defRPr sz="1500" b="0" i="0">
                <a:solidFill>
                  <a:srgbClr val="1E1E1E"/>
                </a:solidFill>
                <a:latin typeface="Arial"/>
              </a:defRPr>
            </a:pPr>
            <a:r>
              <a:t>  Prompt LLM; Module NLG/Define; Tích hợp Circuit Breaker trên Web CDSS (ReactJS + FastAPI).</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Nguyễn Văn Hồ (Thành viên – 5 tháng):</a:t>
            </a:r>
          </a:p>
          <a:p>
            <a:pPr>
              <a:spcBef>
                <a:spcPts val="400"/>
              </a:spcBef>
              <a:defRPr sz="1500" b="0" i="0">
                <a:solidFill>
                  <a:srgbClr val="1E1E1E"/>
                </a:solidFill>
                <a:latin typeface="Arial"/>
              </a:defRPr>
            </a:pPr>
            <a:r>
              <a:t>  Hệ thống Multi-Agent Debate / LLM-as-a-judge; Bộ công cụ Precision, Recall, F1-Score.</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Tiến độ thực hiện:</a:t>
            </a:r>
          </a:p>
          <a:p>
            <a:pPr>
              <a:spcBef>
                <a:spcPts val="400"/>
              </a:spcBef>
              <a:defRPr sz="1500" b="0" i="0">
                <a:solidFill>
                  <a:srgbClr val="1E1E1E"/>
                </a:solidFill>
                <a:latin typeface="Arial"/>
              </a:defRPr>
            </a:pPr>
            <a:r>
              <a:t>  Tháng 3-4/2026:  Tổng quan + Thu thập dữ liệu Merck Manuals + Tiền xử lý.</a:t>
            </a:r>
          </a:p>
          <a:p>
            <a:pPr>
              <a:spcBef>
                <a:spcPts val="400"/>
              </a:spcBef>
              <a:defRPr sz="1500" b="0" i="0">
                <a:solidFill>
                  <a:srgbClr val="1E1E1E"/>
                </a:solidFill>
                <a:latin typeface="Arial"/>
              </a:defRPr>
            </a:pPr>
            <a:r>
              <a:t>  Tháng 4-7/2026:  EDC Pipeline + Multi-Agent Debate + Nạp Neo4j + Backend CDSS.</a:t>
            </a:r>
          </a:p>
          <a:p>
            <a:pPr>
              <a:spcBef>
                <a:spcPts val="400"/>
              </a:spcBef>
              <a:defRPr sz="1500" b="0" i="0">
                <a:solidFill>
                  <a:srgbClr val="1E1E1E"/>
                </a:solidFill>
                <a:latin typeface="Arial"/>
              </a:defRPr>
            </a:pPr>
            <a:r>
              <a:t>  Tháng 7-8/2026:  Đánh giá F1-Score + Circuit Breaker + Frontend + Báo cáo.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Đề tài KHCN cấp Cơ sở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9. TÀI LIỆU THAM KHẢO</a:t>
            </a:r>
          </a:p>
        </p:txBody>
      </p:sp>
      <p:sp>
        <p:nvSpPr>
          <p:cNvPr id="5" name="TextBox 4"/>
          <p:cNvSpPr txBox="1"/>
          <p:nvPr/>
        </p:nvSpPr>
        <p:spPr>
          <a:xfrm>
            <a:off x="731520" y="1188720"/>
            <a:ext cx="10698480" cy="4572000"/>
          </a:xfrm>
          <a:prstGeom prst="rect">
            <a:avLst/>
          </a:prstGeom>
          <a:noFill/>
        </p:spPr>
        <p:txBody>
          <a:bodyPr wrap="square">
            <a:spAutoFit/>
          </a:bodyPr>
          <a:lstStyle/>
          <a:p>
            <a:pPr>
              <a:spcBef>
                <a:spcPts val="600"/>
              </a:spcBef>
              <a:defRPr sz="1250" b="0" i="0">
                <a:solidFill>
                  <a:srgbClr val="1E1E1E"/>
                </a:solidFill>
                <a:latin typeface="Arial"/>
              </a:defRPr>
            </a:pPr>
            <a:r>
              <a:t>[1] H. Xu et al., "medIKAL: Integrating KGs as Assistants of LLMs for Clinical Diagnosis on EMRs," IEEE TKDE, Feb. 2025.</a:t>
            </a:r>
          </a:p>
          <a:p>
            <a:pPr>
              <a:spcBef>
                <a:spcPts val="600"/>
              </a:spcBef>
              <a:defRPr sz="1250" b="0" i="0">
                <a:solidFill>
                  <a:srgbClr val="1E1E1E"/>
                </a:solidFill>
                <a:latin typeface="Arial"/>
              </a:defRPr>
            </a:pPr>
            <a:r>
              <a:t>[2] L. M. Nguyen et al., "Local LLMs Integrated with GraphRAG for Gestational Diabetes Mellitus," Proc. IEEE BIBM, 2025.</a:t>
            </a:r>
          </a:p>
          <a:p>
            <a:pPr>
              <a:spcBef>
                <a:spcPts val="600"/>
              </a:spcBef>
              <a:defRPr sz="1250" b="0" i="0">
                <a:solidFill>
                  <a:srgbClr val="1E1E1E"/>
                </a:solidFill>
                <a:latin typeface="Arial"/>
              </a:defRPr>
            </a:pPr>
            <a:r>
              <a:t>[3] X. Li et al., "LLM-Driven KG Construction for Personalized Diabetes Decision Support," IEEE JBHI, May 2024.</a:t>
            </a:r>
          </a:p>
          <a:p>
            <a:pPr>
              <a:spcBef>
                <a:spcPts val="600"/>
              </a:spcBef>
              <a:defRPr sz="1250" b="0" i="0">
                <a:solidFill>
                  <a:srgbClr val="1E1E1E"/>
                </a:solidFill>
                <a:latin typeface="Arial"/>
              </a:defRPr>
            </a:pPr>
            <a:r>
              <a:t>[4] Y. Zhang et al., "AutoBioKG: Automated Context-Aware Biomedical KG Construction," IEEE/ACM TCBB, Jan. 2025.</a:t>
            </a:r>
          </a:p>
          <a:p>
            <a:pPr>
              <a:spcBef>
                <a:spcPts val="600"/>
              </a:spcBef>
              <a:defRPr sz="1250" b="0" i="0">
                <a:solidFill>
                  <a:srgbClr val="1E1E1E"/>
                </a:solidFill>
                <a:latin typeface="Arial"/>
              </a:defRPr>
            </a:pPr>
            <a:r>
              <a:t>[5] E. Zhang &amp; H. Soh, "EDC: Extract-Define-Canonicalize Paradigm for Schema-Constrained KG Construction," EMNLP, Nov. 2024.</a:t>
            </a:r>
          </a:p>
          <a:p>
            <a:pPr>
              <a:spcBef>
                <a:spcPts val="600"/>
              </a:spcBef>
              <a:defRPr sz="1250" b="0" i="0">
                <a:solidFill>
                  <a:srgbClr val="1E1E1E"/>
                </a:solidFill>
                <a:latin typeface="Arial"/>
              </a:defRPr>
            </a:pPr>
            <a:r>
              <a:t>[6] M. J. R. Smith &amp; K. L. Johnson, "Multi-Agent Debate &amp; Trust Validation for Clinical KGs," IEEE TNNLS, Mar. 2026.</a:t>
            </a:r>
          </a:p>
          <a:p>
            <a:pPr>
              <a:spcBef>
                <a:spcPts val="600"/>
              </a:spcBef>
              <a:defRPr sz="1250" b="0" i="0">
                <a:solidFill>
                  <a:srgbClr val="1E1E1E"/>
                </a:solidFill>
                <a:latin typeface="Arial"/>
              </a:defRPr>
            </a:pPr>
            <a:r>
              <a:t>[7] Y. Du, S. Li et al., "Improving Factuality and Reasoning in LMs through Multiagent Debate," arXiv:2305.14325, 2023.</a:t>
            </a:r>
          </a:p>
          <a:p>
            <a:pPr>
              <a:spcBef>
                <a:spcPts val="600"/>
              </a:spcBef>
              <a:defRPr sz="1250" b="0" i="0">
                <a:solidFill>
                  <a:srgbClr val="1E1E1E"/>
                </a:solidFill>
                <a:latin typeface="Arial"/>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Trường Công Nghệ Số Và Trí Tuệ Nhân Tạo  ·  Trường Đại Học Nam Cần Thơ  ·  2026</a:t>
            </a:r>
          </a:p>
        </p:txBody>
      </p:sp>
      <p:sp>
        <p:nvSpPr>
          <p:cNvPr id="4" name="TextBox 3"/>
          <p:cNvSpPr txBox="1"/>
          <p:nvPr/>
        </p:nvSpPr>
        <p:spPr>
          <a:xfrm>
            <a:off x="1371600" y="2286000"/>
            <a:ext cx="9418320" cy="4572000"/>
          </a:xfrm>
          <a:prstGeom prst="rect">
            <a:avLst/>
          </a:prstGeom>
          <a:noFill/>
        </p:spPr>
        <p:txBody>
          <a:bodyPr wrap="square">
            <a:spAutoFit/>
          </a:bodyPr>
          <a:lstStyle/>
          <a:p>
            <a:pPr algn="ctr">
              <a:spcBef>
                <a:spcPts val="0"/>
              </a:spcBef>
              <a:defRPr sz="3800" b="1" i="0">
                <a:solidFill>
                  <a:srgbClr val="006699"/>
                </a:solidFill>
                <a:latin typeface="Arial"/>
              </a:defRPr>
            </a:pPr>
            <a:r>
              <a:t>XIN TRÂN TRỌNG CẢM ƠN HỘI ĐỒNG!</a:t>
            </a:r>
          </a:p>
          <a:p>
            <a:pPr>
              <a:spcBef>
                <a:spcPts val="400"/>
              </a:spcBef>
              <a:defRPr sz="1500" b="0" i="0">
                <a:solidFill>
                  <a:srgbClr val="1E1E1E"/>
                </a:solidFill>
                <a:latin typeface="Arial"/>
              </a:defRPr>
            </a:pPr>
          </a:p>
          <a:p>
            <a:pPr algn="ctr">
              <a:spcBef>
                <a:spcPts val="400"/>
              </a:spcBef>
              <a:defRPr sz="2000" b="0" i="0">
                <a:solidFill>
                  <a:srgbClr val="646464"/>
                </a:solidFill>
                <a:latin typeface="Arial"/>
              </a:defRPr>
            </a:pPr>
            <a:r>
              <a:t>Kính mong nhận được ý kiến đóng góp</a:t>
            </a:r>
          </a:p>
          <a:p>
            <a:pPr algn="ctr">
              <a:spcBef>
                <a:spcPts val="400"/>
              </a:spcBef>
              <a:defRPr sz="2000" b="0" i="0">
                <a:solidFill>
                  <a:srgbClr val="646464"/>
                </a:solidFill>
                <a:latin typeface="Arial"/>
              </a:defRPr>
            </a:pPr>
            <a:r>
              <a:t>của các Thầy Cô giáo để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