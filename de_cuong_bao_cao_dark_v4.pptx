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Rectangle 3"/>
          <p:cNvSpPr/>
          <p:nvPr/>
        </p:nvSpPr>
        <p:spPr>
          <a:xfrm>
            <a:off x="0" y="0"/>
            <a:ext cx="13716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5029200"/>
          </a:xfrm>
          <a:prstGeom prst="rect">
            <a:avLst/>
          </a:prstGeom>
          <a:noFill/>
        </p:spPr>
        <p:txBody>
          <a:bodyPr wrap="square">
            <a:spAutoFit/>
          </a:bodyPr>
          <a:lstStyle/>
          <a:p>
            <a:pPr>
              <a:spcAft>
                <a:spcPts val="1500"/>
              </a:spcAft>
              <a:defRPr sz="1400" b="1">
                <a:solidFill>
                  <a:srgbClr val="06B6D4"/>
                </a:solidFill>
                <a:latin typeface="Segoe UI"/>
              </a:defRPr>
            </a:pPr>
            <a:r>
              <a:t>ĐỀ CƯƠNG ĐĂNG KÝ ĐỀ TÀI KH&amp;CN CẤP CƠ SỞ</a:t>
            </a:r>
          </a:p>
          <a:p>
            <a:pPr>
              <a:spcAft>
                <a:spcPts val="4000"/>
              </a:spcAft>
              <a:defRPr sz="3600" b="1">
                <a:solidFill>
                  <a:srgbClr val="F8FAFC"/>
                </a:solidFill>
                <a:latin typeface="Segoe UI"/>
              </a:defRPr>
            </a:pPr>
            <a:r>
              <a:t>Ứng Dụng LLM Xây Dựng Đồ Thị Tri Thức</a:t>
            </a:r>
            <a:br/>
            <a:r>
              <a:t>Hỗ Trợ Chẩn Đoán Bệnh Tiểu Đường</a:t>
            </a:r>
          </a:p>
          <a:p>
            <a:pPr>
              <a:spcAft>
                <a:spcPts val="800"/>
              </a:spcAft>
              <a:defRPr sz="1500" b="1">
                <a:solidFill>
                  <a:srgbClr val="10B981"/>
                </a:solidFill>
                <a:latin typeface="Segoe UI"/>
              </a:defRPr>
            </a:pPr>
            <a:r>
              <a:t>Chủ nhiệm đề tài: Lê Quang Huy (Lớp: DH22KPM01  ·  Khóa: 10)</a:t>
            </a:r>
          </a:p>
          <a:p>
            <a:pPr>
              <a:spcAft>
                <a:spcPts val="800"/>
              </a:spcAft>
              <a:defRPr sz="1400">
                <a:solidFill>
                  <a:srgbClr val="F8FAFC"/>
                </a:solidFill>
                <a:latin typeface="Segoe UI"/>
              </a:defRPr>
            </a:pPr>
            <a:r>
              <a:t>Thành viên nghiên cứu: Lưu An Thuận (Thư ký)  ·  Lưu Vỹ Thuận  ·  Nguyễn Văn Hồ</a:t>
            </a:r>
          </a:p>
          <a:p>
            <a:pPr>
              <a:defRPr sz="1400" b="1">
                <a:solidFill>
                  <a:srgbClr val="06B6D4"/>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20116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480560" cy="1920240"/>
          </a:xfrm>
          <a:prstGeom prst="rect">
            <a:avLst/>
          </a:prstGeom>
          <a:noFill/>
        </p:spPr>
        <p:txBody>
          <a:bodyPr wrap="square">
            <a:spAutoFit/>
          </a:bodyPr>
          <a:lstStyle/>
          <a:p>
            <a:pPr>
              <a:spcAft>
                <a:spcPts val="600"/>
              </a:spcAft>
              <a:defRPr sz="1250" b="0">
                <a:solidFill>
                  <a:srgbClr val="F8FAFC"/>
                </a:solidFill>
                <a:latin typeface="Segoe UI"/>
              </a:defRPr>
            </a:pPr>
            <a:r>
              <a:t>•  Khai thác y văn tự động đòi hỏi độ chính xác tuyệt đối.</a:t>
            </a:r>
          </a:p>
          <a:p>
            <a:pPr>
              <a:defRPr sz="1250" b="0">
                <a:solidFill>
                  <a:srgbClr val="F8FAFC"/>
                </a:solidFill>
                <a:latin typeface="Segoe UI"/>
              </a:defRPr>
            </a:pPr>
            <a:r>
              <a:t>•  Đồ thị tri thức (KG) cung cấp biểu diễn tri thức y sinh minh bạch, làm nền tảng cho lập luận lâm sàng giải thích được (Explainable AI).</a:t>
            </a:r>
          </a:p>
        </p:txBody>
      </p:sp>
      <p:sp>
        <p:nvSpPr>
          <p:cNvPr id="9" name="Rounded Rectangle 8"/>
          <p:cNvSpPr/>
          <p:nvPr/>
        </p:nvSpPr>
        <p:spPr>
          <a:xfrm>
            <a:off x="548640" y="3474720"/>
            <a:ext cx="5303520" cy="25603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566160"/>
            <a:ext cx="54864" cy="2377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777240" y="363931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1234440" y="3611880"/>
            <a:ext cx="4480560" cy="2286000"/>
          </a:xfrm>
          <a:prstGeom prst="rect">
            <a:avLst/>
          </a:prstGeom>
          <a:noFill/>
        </p:spPr>
        <p:txBody>
          <a:bodyPr wrap="square">
            <a:spAutoFit/>
          </a:bodyPr>
          <a:lstStyle/>
          <a:p>
            <a:pPr>
              <a:spcAft>
                <a:spcPts val="600"/>
              </a:spcAft>
              <a:defRPr sz="1250" b="0">
                <a:solidFill>
                  <a:srgbClr val="F8FAFC"/>
                </a:solidFill>
                <a:latin typeface="Segoe UI"/>
              </a:defRPr>
            </a:pPr>
            <a:r>
              <a:t>•  Chưa có quy trình tự động hóa dựng Đồ thị tri thức chuyên sâu đái tháo đường theo framework EDC ràng buộc siêu từ điển UMLS.</a:t>
            </a:r>
          </a:p>
          <a:p>
            <a:pPr>
              <a:defRPr sz="1250" b="0">
                <a:solidFill>
                  <a:srgbClr val="F8FAFC"/>
                </a:solidFill>
                <a:latin typeface="Segoe UI"/>
              </a:defRPr>
            </a:pPr>
            <a:r>
              <a:t>•  Thiếu vắng sự phối hợp với cơ chế phản biện đa tác nhân đồng cấp (P2P Debate Gate) tích hợp luật Veto lâm sàng để triệt tiêu ảo giác.</a:t>
            </a:r>
          </a:p>
        </p:txBody>
      </p:sp>
      <p:sp>
        <p:nvSpPr>
          <p:cNvPr id="13" name="Rounded Rectangle 12"/>
          <p:cNvSpPr/>
          <p:nvPr/>
        </p:nvSpPr>
        <p:spPr>
          <a:xfrm>
            <a:off x="6217920" y="1097280"/>
            <a:ext cx="5394960" cy="4937760"/>
          </a:xfrm>
          <a:prstGeom prst="roundRect">
            <a:avLst/>
          </a:prstGeom>
          <a:solidFill>
            <a:srgbClr val="221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6446520" y="1261872"/>
            <a:ext cx="411480" cy="411480"/>
          </a:xfrm>
          <a:prstGeom prst="parallelogram">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6" name="TextBox 15"/>
          <p:cNvSpPr txBox="1"/>
          <p:nvPr/>
        </p:nvSpPr>
        <p:spPr>
          <a:xfrm>
            <a:off x="6903720" y="1234440"/>
            <a:ext cx="4572000" cy="4663440"/>
          </a:xfrm>
          <a:prstGeom prst="rect">
            <a:avLst/>
          </a:prstGeom>
          <a:noFill/>
        </p:spPr>
        <p:txBody>
          <a:bodyPr wrap="square">
            <a:spAutoFit/>
          </a:bodyPr>
          <a:lstStyle/>
          <a:p>
            <a:pPr>
              <a:spcBef>
                <a:spcPts val="400"/>
              </a:spcBef>
              <a:spcAft>
                <a:spcPts val="0"/>
              </a:spcAft>
              <a:defRPr sz="1250" b="1" i="0">
                <a:solidFill>
                  <a:srgbClr val="F43F5E"/>
                </a:solidFill>
                <a:latin typeface="Segoe UI"/>
              </a:defRPr>
            </a:pPr>
            <a:r>
              <a:t>Hiện tượng ảo giác tri thức (hallucination):</a:t>
            </a:r>
          </a:p>
          <a:p>
            <a:pPr>
              <a:spcBef>
                <a:spcPts val="400"/>
              </a:spcBef>
              <a:spcAft>
                <a:spcPts val="0"/>
              </a:spcAft>
              <a:defRPr sz="1250" b="0" i="0">
                <a:solidFill>
                  <a:srgbClr val="F8FAFC"/>
                </a:solidFill>
                <a:latin typeface="Segoe UI"/>
              </a:defRPr>
            </a:pPr>
            <a:r>
              <a:t>•  LLM dễ sinh câu trả lời tự tin nhưng không chính xác với phác đồ lâm sàng thực tế [1].</a:t>
            </a:r>
          </a:p>
          <a:p>
            <a:pPr>
              <a:spcBef>
                <a:spcPts val="1200"/>
              </a:spcBef>
              <a:spcAft>
                <a:spcPts val="0"/>
              </a:spcAft>
              <a:defRPr sz="1250" b="1" i="0">
                <a:solidFill>
                  <a:srgbClr val="F43F5E"/>
                </a:solidFill>
                <a:latin typeface="Segoe UI"/>
              </a:defRPr>
            </a:pPr>
            <a:r>
              <a:t>Thiếu minh chứng lâm sàng:</a:t>
            </a:r>
          </a:p>
          <a:p>
            <a:pPr>
              <a:spcBef>
                <a:spcPts val="400"/>
              </a:spcBef>
              <a:spcAft>
                <a:spcPts val="0"/>
              </a:spcAft>
              <a:defRPr sz="1250" b="0" i="0">
                <a:solidFill>
                  <a:srgbClr val="F8FAFC"/>
                </a:solidFill>
                <a:latin typeface="Segoe UI"/>
              </a:defRPr>
            </a:pPr>
            <a:r>
              <a:t>•  Không có khả năng đối khớp nguồn gốc của thực thể và quan hệ y sinh được trích xuất.</a:t>
            </a:r>
          </a:p>
          <a:p>
            <a:pPr>
              <a:spcBef>
                <a:spcPts val="1200"/>
              </a:spcBef>
              <a:spcAft>
                <a:spcPts val="0"/>
              </a:spcAft>
              <a:defRPr sz="1250" b="1" i="0">
                <a:solidFill>
                  <a:srgbClr val="F43F5E"/>
                </a:solidFill>
                <a:latin typeface="Segoe UI"/>
              </a:defRPr>
            </a:pPr>
            <a:r>
              <a:t>Không có ràng buộc lược đồ (Schema):</a:t>
            </a:r>
          </a:p>
          <a:p>
            <a:pPr>
              <a:spcBef>
                <a:spcPts val="400"/>
              </a:spcBef>
              <a:spcAft>
                <a:spcPts val="0"/>
              </a:spcAft>
              <a:defRPr sz="1250" b="0" i="0">
                <a:solidFill>
                  <a:srgbClr val="F8FAFC"/>
                </a:solidFill>
                <a:latin typeface="Segoe UI"/>
              </a:defRPr>
            </a:pPr>
            <a:r>
              <a:t>•  Trích xuất tự do dễ dẫn đến các bộ ba tri thức phi logic y sinh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Mục tiêu chính:</a:t>
            </a:r>
          </a:p>
          <a:p>
            <a:pPr>
              <a:spcBef>
                <a:spcPts val="400"/>
              </a:spcBef>
              <a:spcAft>
                <a:spcPts val="0"/>
              </a:spcAft>
              <a:defRPr sz="1250" b="0" i="0">
                <a:solidFill>
                  <a:srgbClr val="F8FAFC"/>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spcBef>
                <a:spcPts val="1200"/>
              </a:spcBef>
              <a:spcAft>
                <a:spcPts val="0"/>
              </a:spcAft>
              <a:defRPr sz="1250" b="1" i="0">
                <a:solidFill>
                  <a:srgbClr val="10B981"/>
                </a:solidFill>
                <a:latin typeface="Segoe UI"/>
              </a:defRPr>
            </a:pPr>
            <a:r>
              <a:t>Mục tiêu cụ thể:</a:t>
            </a:r>
          </a:p>
          <a:p>
            <a:pPr>
              <a:spcBef>
                <a:spcPts val="400"/>
              </a:spcBef>
              <a:spcAft>
                <a:spcPts val="0"/>
              </a:spcAft>
              <a:defRPr sz="1250" b="0" i="0">
                <a:solidFill>
                  <a:srgbClr val="F8FAFC"/>
                </a:solidFill>
                <a:latin typeface="Segoe UI"/>
              </a:defRPr>
            </a:pPr>
            <a:r>
              <a:t>•  1. Tiền xử lý tự động dữ liệu phác đồ ADA/AACE &amp; EHR Dataset.</a:t>
            </a:r>
          </a:p>
          <a:p>
            <a:pPr>
              <a:spcBef>
                <a:spcPts val="400"/>
              </a:spcBef>
              <a:spcAft>
                <a:spcPts val="0"/>
              </a:spcAft>
              <a:defRPr sz="1250" b="0" i="0">
                <a:solidFill>
                  <a:srgbClr val="F8FAFC"/>
                </a:solidFill>
                <a:latin typeface="Segoe UI"/>
              </a:defRPr>
            </a:pPr>
            <a:r>
              <a:t>•  2. Trích xuất tri thức theo EDC framework, chuẩn hóa UMLS CUI.</a:t>
            </a:r>
          </a:p>
          <a:p>
            <a:pPr>
              <a:spcBef>
                <a:spcPts val="400"/>
              </a:spcBef>
              <a:spcAft>
                <a:spcPts val="0"/>
              </a:spcAft>
              <a:defRPr sz="1250" b="0" i="0">
                <a:solidFill>
                  <a:srgbClr val="F8FAFC"/>
                </a:solidFill>
                <a:latin typeface="Segoe UI"/>
              </a:defRPr>
            </a:pPr>
            <a:r>
              <a:t>•  3. Thiết lập &amp; tối ưu hóa cơ sở dữ liệu đồ thị Neo4j.</a:t>
            </a:r>
          </a:p>
          <a:p>
            <a:pPr>
              <a:spcBef>
                <a:spcPts val="400"/>
              </a:spcBef>
              <a:spcAft>
                <a:spcPts val="0"/>
              </a:spcAft>
              <a:defRPr sz="1250" b="0" i="0">
                <a:solidFill>
                  <a:srgbClr val="F8FAFC"/>
                </a:solidFill>
                <a:latin typeface="Segoe UI"/>
              </a:defRPr>
            </a:pPr>
            <a:r>
              <a:t>•  4. Đánh giá chất lượng đồ thị qua giao thức phản biện Multi-Agent.</a:t>
            </a:r>
          </a:p>
          <a:p>
            <a:pPr>
              <a:spcBef>
                <a:spcPts val="400"/>
              </a:spcBef>
              <a:spcAft>
                <a:spcPts val="0"/>
              </a:spcAft>
              <a:defRPr sz="1250" b="0" i="0">
                <a:solidFill>
                  <a:srgbClr val="F8FAFC"/>
                </a:solidFill>
                <a:latin typeface="Segoe UI"/>
              </a:defRPr>
            </a:pPr>
            <a:r>
              <a:t>•  5. Triển khai Web demo CDSS tích hợp ngắt mạch y khoa an toàn.</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Đối tượng nghiên cứu:</a:t>
            </a:r>
          </a:p>
          <a:p>
            <a:pPr>
              <a:spcBef>
                <a:spcPts val="400"/>
              </a:spcBef>
              <a:spcAft>
                <a:spcPts val="0"/>
              </a:spcAft>
              <a:defRPr sz="1250" b="0" i="0">
                <a:solidFill>
                  <a:srgbClr val="F8FAFC"/>
                </a:solidFill>
                <a:latin typeface="Segoe UI"/>
              </a:defRPr>
            </a:pPr>
            <a:r>
              <a:t>•  Quy trình trích xuất, chuẩn hóa tri thức (UMLS CUI) và giao thức tự động hóa thẩm định chất lượng đồ thị bằng Đa tác nhân chuyên ngành đái tháo đường.</a:t>
            </a:r>
          </a:p>
          <a:p>
            <a:pPr>
              <a:spcBef>
                <a:spcPts val="1400"/>
              </a:spcBef>
              <a:spcAft>
                <a:spcPts val="0"/>
              </a:spcAft>
              <a:defRPr sz="1250" b="1" i="0">
                <a:solidFill>
                  <a:srgbClr val="06B6D4"/>
                </a:solidFill>
                <a:latin typeface="Segoe UI"/>
              </a:defRPr>
            </a:pPr>
            <a:r>
              <a:t>Dữ liệu thực nghiệm:</a:t>
            </a:r>
          </a:p>
          <a:p>
            <a:pPr>
              <a:spcBef>
                <a:spcPts val="400"/>
              </a:spcBef>
              <a:spcAft>
                <a:spcPts val="0"/>
              </a:spcAft>
              <a:defRPr sz="1250" b="0" i="0">
                <a:solidFill>
                  <a:srgbClr val="F8FAFC"/>
                </a:solidFill>
                <a:latin typeface="Segoe UI"/>
              </a:defRPr>
            </a:pPr>
            <a:r>
              <a:t>•  Y văn điều trị đái tháo đường từ Cẩm nang chuyên môn Merck Manuals Professional Version.</a:t>
            </a:r>
          </a:p>
          <a:p>
            <a:pPr>
              <a:spcBef>
                <a:spcPts val="400"/>
              </a:spcBef>
              <a:spcAft>
                <a:spcPts val="0"/>
              </a:spcAft>
              <a:defRPr sz="1250" b="0" i="0">
                <a:solidFill>
                  <a:srgbClr val="F8FAFC"/>
                </a:solidFill>
                <a:latin typeface="Segoe UI"/>
              </a:defRPr>
            </a:pPr>
            <a:r>
              <a:t>•  Phác đồ lâm sàng ADA/AACE &amp; EHR Dataset.</a:t>
            </a:r>
          </a:p>
          <a:p>
            <a:pPr>
              <a:spcBef>
                <a:spcPts val="1400"/>
              </a:spcBef>
              <a:spcAft>
                <a:spcPts val="0"/>
              </a:spcAft>
              <a:defRPr sz="1250" b="1" i="0">
                <a:solidFill>
                  <a:srgbClr val="F43F5E"/>
                </a:solidFill>
                <a:latin typeface="Segoe UI"/>
              </a:defRPr>
            </a:pPr>
            <a:r>
              <a:t>Giới hạn thực nghiệm:</a:t>
            </a:r>
          </a:p>
          <a:p>
            <a:pPr>
              <a:spcBef>
                <a:spcPts val="400"/>
              </a:spcBef>
              <a:spcAft>
                <a:spcPts val="0"/>
              </a:spcAft>
              <a:defRPr sz="1250" b="0" i="0">
                <a:solidFill>
                  <a:srgbClr val="F8FAFC"/>
                </a:solidFill>
                <a:latin typeface="Segoe UI"/>
              </a:defRPr>
            </a:pPr>
            <a:r>
              <a:t>•  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265176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Thiết kế Graph Schema:</a:t>
            </a:r>
          </a:p>
          <a:p>
            <a:pPr>
              <a:spcBef>
                <a:spcPts val="400"/>
              </a:spcBef>
              <a:spcAft>
                <a:spcPts val="0"/>
              </a:spcAft>
              <a:defRPr sz="1250" b="0" i="0">
                <a:solidFill>
                  <a:srgbClr val="F8FAFC"/>
                </a:solidFill>
                <a:latin typeface="Segoe UI"/>
              </a:defRPr>
            </a:pPr>
            <a:r>
              <a:t>Khảo sát phác đồ lâm sàng ADA/AACE &amp; siêu từ điển y học UMLS để lập lược đồ đồ thị chuẩn.</a:t>
            </a:r>
          </a:p>
          <a:p>
            <a:pPr>
              <a:spcBef>
                <a:spcPts val="1200"/>
              </a:spcBef>
              <a:spcAft>
                <a:spcPts val="0"/>
              </a:spcAft>
              <a:defRPr sz="1250" b="1" i="0">
                <a:solidFill>
                  <a:srgbClr val="06B6D4"/>
                </a:solidFill>
                <a:latin typeface="Segoe UI"/>
              </a:defRPr>
            </a:pPr>
            <a:r>
              <a:t>Công nghệ y khoa AI:</a:t>
            </a:r>
          </a:p>
          <a:p>
            <a:pPr>
              <a:spcBef>
                <a:spcPts val="400"/>
              </a:spcBef>
              <a:spcAft>
                <a:spcPts val="0"/>
              </a:spcAft>
              <a:defRPr sz="1250" b="0" i="0">
                <a:solidFill>
                  <a:srgbClr val="F8FAFC"/>
                </a:solidFill>
                <a:latin typeface="Segoe UI"/>
              </a:defRPr>
            </a:pPr>
            <a:r>
              <a:t>Nghiên cứu lý thuyết Đồ thị tri thức (KG), mô hình nhúng y sinh (BioBERT), kiến trúc GraphRAG và cơ chế đàm thoại phản biện đa tác nhân (Multi-Agent Debate).</a:t>
            </a:r>
          </a:p>
        </p:txBody>
      </p:sp>
      <p:sp>
        <p:nvSpPr>
          <p:cNvPr id="9" name="Rounded Rectangle 8"/>
          <p:cNvSpPr/>
          <p:nvPr/>
        </p:nvSpPr>
        <p:spPr>
          <a:xfrm>
            <a:off x="4297680" y="1097280"/>
            <a:ext cx="35661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452628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4983480" y="1234440"/>
            <a:ext cx="274320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Tiền xử lý &amp; làm sạch:</a:t>
            </a:r>
          </a:p>
          <a:p>
            <a:pPr>
              <a:spcBef>
                <a:spcPts val="400"/>
              </a:spcBef>
              <a:spcAft>
                <a:spcPts val="0"/>
              </a:spcAft>
              <a:defRPr sz="1250" b="0" i="0">
                <a:solidFill>
                  <a:srgbClr val="F8FAFC"/>
                </a:solidFill>
                <a:latin typeface="Segoe UI"/>
              </a:defRPr>
            </a:pPr>
            <a:r>
              <a:t>Thu thập y văn Merck Manuals, làm sạch ký tự nhiễu; dùng NLG Agent soft-parsing các bảng số liệu định lượng phức tạp thành văn bản logic.</a:t>
            </a:r>
          </a:p>
          <a:p>
            <a:pPr>
              <a:spcBef>
                <a:spcPts val="1200"/>
              </a:spcBef>
              <a:spcAft>
                <a:spcPts val="0"/>
              </a:spcAft>
              <a:defRPr sz="1250" b="1" i="0">
                <a:solidFill>
                  <a:srgbClr val="10B981"/>
                </a:solidFill>
                <a:latin typeface="Segoe UI"/>
              </a:defRPr>
            </a:pPr>
            <a:r>
              <a:t>Hiện thực hóa hệ thống:</a:t>
            </a:r>
          </a:p>
          <a:p>
            <a:pPr>
              <a:spcBef>
                <a:spcPts val="400"/>
              </a:spcBef>
              <a:spcAft>
                <a:spcPts val="0"/>
              </a:spcAft>
              <a:defRPr sz="1250" b="0" i="0">
                <a:solidFill>
                  <a:srgbClr val="F8FAFC"/>
                </a:solidFill>
                <a:latin typeface="Segoe UI"/>
              </a:defRPr>
            </a:pPr>
            <a:r>
              <a:t>Cài đặt pipeline trích xuất EDC; nạp CSDL đồ thị Neo4j bằng Cypher; xây dựng ứng dụng web CDSS (FastAPI kết hợp ReactJS).</a:t>
            </a:r>
          </a:p>
        </p:txBody>
      </p:sp>
      <p:sp>
        <p:nvSpPr>
          <p:cNvPr id="13" name="Rounded Rectangle 12"/>
          <p:cNvSpPr/>
          <p:nvPr/>
        </p:nvSpPr>
        <p:spPr>
          <a:xfrm>
            <a:off x="813816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8366760" y="1261872"/>
            <a:ext cx="411480" cy="411480"/>
          </a:xfrm>
          <a:prstGeom prst="parallelogram">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6" name="TextBox 15"/>
          <p:cNvSpPr txBox="1"/>
          <p:nvPr/>
        </p:nvSpPr>
        <p:spPr>
          <a:xfrm>
            <a:off x="8823960" y="1234440"/>
            <a:ext cx="2651760" cy="4663440"/>
          </a:xfrm>
          <a:prstGeom prst="rect">
            <a:avLst/>
          </a:prstGeom>
          <a:noFill/>
        </p:spPr>
        <p:txBody>
          <a:bodyPr wrap="square">
            <a:spAutoFit/>
          </a:bodyPr>
          <a:lstStyle/>
          <a:p>
            <a:pPr>
              <a:spcBef>
                <a:spcPts val="400"/>
              </a:spcBef>
              <a:spcAft>
                <a:spcPts val="0"/>
              </a:spcAft>
              <a:defRPr sz="1250" b="1" i="0">
                <a:solidFill>
                  <a:srgbClr val="F43F5E"/>
                </a:solidFill>
                <a:latin typeface="Segoe UI"/>
              </a:defRPr>
            </a:pPr>
            <a:r>
              <a:t>Thẩm định tự động:</a:t>
            </a:r>
          </a:p>
          <a:p>
            <a:pPr>
              <a:spcBef>
                <a:spcPts val="400"/>
              </a:spcBef>
              <a:spcAft>
                <a:spcPts val="0"/>
              </a:spcAft>
              <a:defRPr sz="1250" b="0" i="0">
                <a:solidFill>
                  <a:srgbClr val="F8FAFC"/>
                </a:solidFill>
                <a:latin typeface="Segoe UI"/>
              </a:defRPr>
            </a:pPr>
            <a:r>
              <a:t>Phát triển hệ thống Hội đồng đa tác nhân đồng cấp (P2P Debate Gate) tự đàm thoại và chốt điểm đồng thuận chéo.</a:t>
            </a:r>
          </a:p>
          <a:p>
            <a:pPr>
              <a:spcBef>
                <a:spcPts val="1200"/>
              </a:spcBef>
              <a:spcAft>
                <a:spcPts val="0"/>
              </a:spcAft>
              <a:defRPr sz="1250" b="1" i="0">
                <a:solidFill>
                  <a:srgbClr val="F43F5E"/>
                </a:solidFill>
                <a:latin typeface="Segoe UI"/>
              </a:defRPr>
            </a:pPr>
            <a:r>
              <a:t>Đo lường định lượng:</a:t>
            </a:r>
          </a:p>
          <a:p>
            <a:pPr>
              <a:spcBef>
                <a:spcPts val="400"/>
              </a:spcBef>
              <a:spcAft>
                <a:spcPts val="0"/>
              </a:spcAft>
              <a:defRPr sz="1250" b="0" i="0">
                <a:solidFill>
                  <a:srgbClr val="F8FAFC"/>
                </a:solidFill>
                <a:latin typeface="Segoe UI"/>
              </a:defRPr>
            </a:pPr>
            <a:r>
              <a:t>Tính toán Precision, Recall, F1-Score trên 3 cấp độ (Exact, Strict, Partial). Chạy thử nghiệm giả lập ca lâm sàng thực tế để kiểm định độ nhạy của bộ ngắt mạch Circuit Breaker.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37490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365760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Đồ thị tri thức (KG):</a:t>
            </a:r>
          </a:p>
          <a:p>
            <a:pPr>
              <a:spcBef>
                <a:spcPts val="400"/>
              </a:spcBef>
              <a:spcAft>
                <a:spcPts val="0"/>
              </a:spcAft>
              <a:defRPr sz="1250" b="0" i="0">
                <a:solidFill>
                  <a:srgbClr val="F8FAFC"/>
                </a:solidFill>
                <a:latin typeface="Segoe UI"/>
              </a:defRPr>
            </a:pPr>
            <a:r>
              <a:t>Tìm hiểu cấu trúc mạng lưới liên kết gồm Thực thể (Bệnh lý, Thuốc, Chỉ số eGFR), Mối quan hệ (Chống chỉ định, Điều trị) và các Thuộc tính ngữ cảnh lâm sàng.</a:t>
            </a:r>
          </a:p>
          <a:p>
            <a:pPr>
              <a:spcBef>
                <a:spcPts val="1200"/>
              </a:spcBef>
              <a:spcAft>
                <a:spcPts val="0"/>
              </a:spcAft>
              <a:defRPr sz="1250" b="1" i="0">
                <a:solidFill>
                  <a:srgbClr val="06B6D4"/>
                </a:solidFill>
                <a:latin typeface="Segoe UI"/>
              </a:defRPr>
            </a:pPr>
            <a:r>
              <a:t>Kiến trúc GraphRAG &amp; Multi-Agent:</a:t>
            </a:r>
          </a:p>
          <a:p>
            <a:pPr>
              <a:spcBef>
                <a:spcPts val="400"/>
              </a:spcBef>
              <a:spcAft>
                <a:spcPts val="0"/>
              </a:spcAft>
              <a:defRPr sz="1250" b="0" i="0">
                <a:solidFill>
                  <a:srgbClr val="F8FAFC"/>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9" name="Rounded Rectangle 8"/>
          <p:cNvSpPr/>
          <p:nvPr/>
        </p:nvSpPr>
        <p:spPr>
          <a:xfrm>
            <a:off x="621792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37490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365760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Bóc tách layout tự động (Layout-aware):</a:t>
            </a:r>
          </a:p>
          <a:p>
            <a:pPr>
              <a:spcBef>
                <a:spcPts val="400"/>
              </a:spcBef>
              <a:spcAft>
                <a:spcPts val="0"/>
              </a:spcAft>
              <a:defRPr sz="1250" b="0" i="0">
                <a:solidFill>
                  <a:srgbClr val="F8FAFC"/>
                </a:solidFill>
                <a:latin typeface="Segoe UI"/>
              </a:defRPr>
            </a:pPr>
            <a:r>
              <a:t>Dùng LlamaParse + OCR xử lý phác đồ điều trị ADA/AACE để bảo toàn cấu trúc thứ bậc lâm sàng, tối ưu Semantic Chunking.</a:t>
            </a:r>
          </a:p>
          <a:p>
            <a:pPr>
              <a:spcBef>
                <a:spcPts val="1200"/>
              </a:spcBef>
              <a:spcAft>
                <a:spcPts val="0"/>
              </a:spcAft>
              <a:defRPr sz="1250" b="1" i="0">
                <a:solidFill>
                  <a:srgbClr val="10B981"/>
                </a:solidFill>
                <a:latin typeface="Segoe UI"/>
              </a:defRPr>
            </a:pPr>
            <a:r>
              <a:t>Mềm hóa bảng số liệu &amp; Lưu đồ:</a:t>
            </a:r>
          </a:p>
          <a:p>
            <a:pPr>
              <a:spcBef>
                <a:spcPts val="400"/>
              </a:spcBef>
              <a:spcAft>
                <a:spcPts val="0"/>
              </a:spcAft>
              <a:defRPr sz="1250" b="0" i="0">
                <a:solidFill>
                  <a:srgbClr val="F8FAFC"/>
                </a:solidFill>
                <a:latin typeface="Segoe UI"/>
              </a:defRPr>
            </a:pPr>
            <a:r>
              <a:t>Tác nhân NLG dịch bảng lâm sàng/thuật toán phức tạp thành văn bản logic trôi chảy.</a:t>
            </a:r>
          </a:p>
          <a:p>
            <a:pPr>
              <a:spcBef>
                <a:spcPts val="1200"/>
              </a:spcBef>
              <a:spcAft>
                <a:spcPts val="0"/>
              </a:spcAft>
              <a:defRPr sz="1250" b="1" i="0">
                <a:solidFill>
                  <a:srgbClr val="10B981"/>
                </a:solidFill>
                <a:latin typeface="Segoe UI"/>
              </a:defRPr>
            </a:pPr>
            <a:r>
              <a:t>Bệnh án điện tử UCI Diabetes:</a:t>
            </a:r>
          </a:p>
          <a:p>
            <a:pPr>
              <a:spcBef>
                <a:spcPts val="400"/>
              </a:spcBef>
              <a:spcAft>
                <a:spcPts val="0"/>
              </a:spcAft>
              <a:defRPr sz="1250" b="0" i="0">
                <a:solidFill>
                  <a:srgbClr val="F8FAFC"/>
                </a:solidFill>
                <a:latin typeface="Segoe UI"/>
              </a:defRPr>
            </a:pPr>
            <a:r>
              <a:t>Dịch dữ liệu bảng thành văn bản mô tả hành trình bệnh nhân và giải quyết đồng tham chiếu (co-reference resolution).</a:t>
            </a:r>
          </a:p>
        </p:txBody>
      </p:sp>
      <p:sp>
        <p:nvSpPr>
          <p:cNvPr id="13" name="Rounded Rectangle 12"/>
          <p:cNvSpPr/>
          <p:nvPr/>
        </p:nvSpPr>
        <p:spPr>
          <a:xfrm>
            <a:off x="548640" y="5212080"/>
            <a:ext cx="11064240" cy="731520"/>
          </a:xfrm>
          <a:prstGeom prst="roundRect">
            <a:avLst/>
          </a:prstGeom>
          <a:solidFill>
            <a:srgbClr val="102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303520"/>
            <a:ext cx="54864"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49240"/>
            <a:ext cx="10744200" cy="457200"/>
          </a:xfrm>
          <a:prstGeom prst="rect">
            <a:avLst/>
          </a:prstGeom>
          <a:noFill/>
        </p:spPr>
        <p:txBody>
          <a:bodyPr wrap="square">
            <a:spAutoFit/>
          </a:bodyPr>
          <a:lstStyle/>
          <a:p/>
          <a:p>
            <a:pPr>
              <a:spcBef>
                <a:spcPts val="400"/>
              </a:spcBef>
              <a:spcAft>
                <a:spcPts val="0"/>
              </a:spcAft>
              <a:defRPr sz="1250" b="1" i="1">
                <a:solidFill>
                  <a:srgbClr val="10B981"/>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Phase 1 - Extract (Clinical Open IE):</a:t>
            </a:r>
          </a:p>
          <a:p>
            <a:pPr>
              <a:spcBef>
                <a:spcPts val="400"/>
              </a:spcBef>
              <a:spcAft>
                <a:spcPts val="0"/>
              </a:spcAft>
              <a:defRPr sz="1250" b="0" i="0">
                <a:solidFill>
                  <a:srgbClr val="F8FAFC"/>
                </a:solidFill>
                <a:latin typeface="Segoe UI"/>
              </a:defRPr>
            </a:pPr>
            <a:r>
              <a:t>Sử dụng Few-shot Prompt tối ưu để LLM trích xuất mở các bộ ba thô dạng (Bệnh lý - treats/contraindicates - Dược chất) từ hồ sơ và phác đồ.</a:t>
            </a:r>
          </a:p>
          <a:p>
            <a:pPr>
              <a:spcBef>
                <a:spcPts val="1000"/>
              </a:spcBef>
              <a:spcAft>
                <a:spcPts val="0"/>
              </a:spcAft>
              <a:defRPr sz="1250" b="1" i="0">
                <a:solidFill>
                  <a:srgbClr val="06B6D4"/>
                </a:solidFill>
                <a:latin typeface="Segoe UI"/>
              </a:defRPr>
            </a:pPr>
            <a:r>
              <a:t>Phase 2 - Define (Semantic Definition):</a:t>
            </a:r>
          </a:p>
          <a:p>
            <a:pPr>
              <a:spcBef>
                <a:spcPts val="400"/>
              </a:spcBef>
              <a:spcAft>
                <a:spcPts val="0"/>
              </a:spcAft>
              <a:defRPr sz="1250" b="0" i="0">
                <a:solidFill>
                  <a:srgbClr val="F8FAFC"/>
                </a:solidFill>
                <a:latin typeface="Segoe UI"/>
              </a:defRPr>
            </a:pPr>
            <a:r>
              <a:t>Gọi LLM tự động viết định nghĩa rõ ràng cho từng thực thể và quan hệ dựa theo ngữ cảnh xuất hiện, giúp bảo toàn toàn vẹn ngữ nghĩa lâm sàng gốc.</a:t>
            </a:r>
          </a:p>
          <a:p>
            <a:pPr>
              <a:spcBef>
                <a:spcPts val="1000"/>
              </a:spcBef>
              <a:spcAft>
                <a:spcPts val="0"/>
              </a:spcAft>
              <a:defRPr sz="1250" b="1" i="0">
                <a:solidFill>
                  <a:srgbClr val="06B6D4"/>
                </a:solidFill>
                <a:latin typeface="Segoe UI"/>
              </a:defRPr>
            </a:pPr>
            <a:r>
              <a:t>Phase 3 - Canonicalize (Chuẩn hóa Lược đồ):</a:t>
            </a:r>
          </a:p>
          <a:p>
            <a:pPr>
              <a:spcBef>
                <a:spcPts val="400"/>
              </a:spcBef>
              <a:spcAft>
                <a:spcPts val="0"/>
              </a:spcAft>
              <a:defRPr sz="1250" b="0" i="0">
                <a:solidFill>
                  <a:srgbClr val="F8FAFC"/>
                </a:solidFill>
                <a:latin typeface="Segoe UI"/>
              </a:defRPr>
            </a:pPr>
            <a:r>
              <a:t>3a - Relation: Ánh xạ quan hệ thô về lược đồ chuẩn (diabetes_schema.csv) bằng Cosine Similarity.</a:t>
            </a:r>
            <a:br/>
            <a:r>
              <a:t>3b - Entity-Type: Ánh xạ kiểu thực thể về mã UMLS CUI chuẩn (CUI mapping).</a:t>
            </a:r>
          </a:p>
          <a:p>
            <a:pPr>
              <a:spcBef>
                <a:spcPts val="1000"/>
              </a:spcBef>
              <a:spcAft>
                <a:spcPts val="0"/>
              </a:spcAft>
              <a:defRPr sz="1250" b="1" i="0">
                <a:solidFill>
                  <a:srgbClr val="06B6D4"/>
                </a:solidFill>
                <a:latin typeface="Segoe UI"/>
              </a:defRPr>
            </a:pPr>
            <a:r>
              <a:t>Phase 4 - Property Packing (Đóng gói thuộc tính):</a:t>
            </a:r>
          </a:p>
          <a:p>
            <a:pPr>
              <a:spcBef>
                <a:spcPts val="400"/>
              </a:spcBef>
              <a:spcAft>
                <a:spcPts val="0"/>
              </a:spcAft>
              <a:defRPr sz="1250" b="0" i="0">
                <a:solidFill>
                  <a:srgbClr val="F8FAFC"/>
                </a:solidFill>
                <a:latin typeface="Segoe UI"/>
              </a:defRPr>
            </a:pPr>
            <a:r>
              <a:t>Module PropertyPacker truy vấn ngoại tuyến gán mã chuẩn y khoa RxNorm (thuốc), ICD-10 (bệnh lý), khử trùng lặp và đóng gói thành tệp JSON đồ thị chuẩn.</a:t>
            </a:r>
          </a:p>
        </p:txBody>
      </p:sp>
      <p:pic>
        <p:nvPicPr>
          <p:cNvPr id="9" name="Picture 8" descr="edc_pipeline_actual_flow.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1. Clinical Specialist Agent (Llama-3.3-70B - Trọng số 0.4):</a:t>
            </a:r>
          </a:p>
          <a:p>
            <a:pPr>
              <a:spcBef>
                <a:spcPts val="400"/>
              </a:spcBef>
              <a:spcAft>
                <a:spcPts val="0"/>
              </a:spcAft>
              <a:defRPr sz="1250" b="0" i="0">
                <a:solidFill>
                  <a:srgbClr val="F8FAFC"/>
                </a:solidFill>
                <a:latin typeface="Segoe UI"/>
              </a:defRPr>
            </a:pPr>
            <a:r>
              <a:t>Đánh giá tính chính xác sinh y học, an toàn lâm sàng, đối chiếu phác đồ đái tháo đường ADA/EASD.</a:t>
            </a:r>
          </a:p>
          <a:p>
            <a:pPr>
              <a:spcBef>
                <a:spcPts val="1000"/>
              </a:spcBef>
              <a:spcAft>
                <a:spcPts val="0"/>
              </a:spcAft>
              <a:defRPr sz="1250" b="1" i="0">
                <a:solidFill>
                  <a:srgbClr val="10B981"/>
                </a:solidFill>
                <a:latin typeface="Segoe UI"/>
              </a:defRPr>
            </a:pPr>
            <a:r>
              <a:t>2. Ontology Inspector Agent (Llama-3.1-8B - Trọng số 0.3):</a:t>
            </a:r>
          </a:p>
          <a:p>
            <a:pPr>
              <a:spcBef>
                <a:spcPts val="400"/>
              </a:spcBef>
              <a:spcAft>
                <a:spcPts val="0"/>
              </a:spcAft>
              <a:defRPr sz="1250" b="0" i="0">
                <a:solidFill>
                  <a:srgbClr val="F8FAFC"/>
                </a:solidFill>
                <a:latin typeface="Segoe UI"/>
              </a:defRPr>
            </a:pPr>
            <a:r>
              <a:t>Kiểm tra tính tuân thủ nghiêm ngặt của các bộ ba tri thức với lược đồ Domain/Range định sẵn trong diabetes_schema.csv.</a:t>
            </a:r>
          </a:p>
          <a:p>
            <a:pPr>
              <a:spcBef>
                <a:spcPts val="1000"/>
              </a:spcBef>
              <a:spcAft>
                <a:spcPts val="0"/>
              </a:spcAft>
              <a:defRPr sz="1250" b="1" i="0">
                <a:solidFill>
                  <a:srgbClr val="10B981"/>
                </a:solidFill>
                <a:latin typeface="Segoe UI"/>
              </a:defRPr>
            </a:pPr>
            <a:r>
              <a:t>3. Medical Skeptic Agent (Gemma-2-9B - Trọng số 0.3):</a:t>
            </a:r>
          </a:p>
          <a:p>
            <a:pPr>
              <a:spcBef>
                <a:spcPts val="400"/>
              </a:spcBef>
              <a:spcAft>
                <a:spcPts val="0"/>
              </a:spcAft>
              <a:defRPr sz="1250" b="0" i="0">
                <a:solidFill>
                  <a:srgbClr val="F8FAFC"/>
                </a:solidFill>
                <a:latin typeface="Segoe UI"/>
              </a:defRPr>
            </a:pPr>
            <a:r>
              <a:t>Đóng vai trò phản biện độc lập, tìm kiếm lỗi ngôn ngữ NLP, triệt tiêu ảo giác tri thức và các thực thể nhiễu.</a:t>
            </a:r>
          </a:p>
          <a:p>
            <a:pPr>
              <a:spcBef>
                <a:spcPts val="1400"/>
              </a:spcBef>
              <a:spcAft>
                <a:spcPts val="0"/>
              </a:spcAft>
              <a:defRPr sz="1250" b="1" i="0">
                <a:solidFill>
                  <a:srgbClr val="F43F5E"/>
                </a:solidFill>
                <a:latin typeface="Segoe UI"/>
              </a:defRPr>
            </a:pPr>
            <a:r>
              <a:t>Cơ chế Điểm đồng thuận (FCS) &amp; Luật Phủ quyết (Veto Rule):</a:t>
            </a:r>
          </a:p>
          <a:p>
            <a:pPr>
              <a:spcBef>
                <a:spcPts val="400"/>
              </a:spcBef>
              <a:spcAft>
                <a:spcPts val="0"/>
              </a:spcAft>
              <a:defRPr sz="1250" b="0" i="0">
                <a:solidFill>
                  <a:srgbClr val="F8FAFC"/>
                </a:solidFill>
                <a:latin typeface="Segoe UI"/>
              </a:defRPr>
            </a:pPr>
            <a:r>
              <a:t>•  FCS = 0.4×CS + 0.3×OI + 0.3×MS. Triplet được lưu vào Neo4j nếu FCS ≥ 80/100.</a:t>
            </a:r>
            <a:br/>
            <a:r>
              <a:t>•  Veto lâm sàng: Bất kỳ Agent nào đưa ra kết luận bác bỏ [INCORRECT] với độ tin cậy &gt; 70% → Triplet lập tức bị loại bỏ khỏi luồng đóng gói.</a:t>
            </a:r>
          </a:p>
        </p:txBody>
      </p:sp>
      <p:pic>
        <p:nvPicPr>
          <p:cNvPr id="9" name="Picture 8" descr="multiagent_debate_framework.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Backend API y khoa điều phối song song (FastAPI):</a:t>
            </a:r>
          </a:p>
          <a:p>
            <a:pPr>
              <a:spcBef>
                <a:spcPts val="400"/>
              </a:spcBef>
              <a:spcAft>
                <a:spcPts val="0"/>
              </a:spcAft>
              <a:defRPr sz="1250" b="0" i="0">
                <a:solidFill>
                  <a:srgbClr val="F8FAFC"/>
                </a:solidFill>
                <a:latin typeface="Segoe UI"/>
              </a:defRPr>
            </a:pPr>
            <a:r>
              <a:t>Đồng thời thực hiện Vector Search y văn và truy vấn cấu trúc đồ thị Neo4j bằng ngôn ngữ Cypher, đảm bảo tính nhất quán của tri thức lâm sàng.</a:t>
            </a:r>
          </a:p>
          <a:p>
            <a:pPr>
              <a:spcBef>
                <a:spcPts val="1000"/>
              </a:spcBef>
              <a:spcAft>
                <a:spcPts val="0"/>
              </a:spcAft>
              <a:defRPr sz="1250" b="1" i="0">
                <a:solidFill>
                  <a:srgbClr val="06B6D4"/>
                </a:solidFill>
                <a:latin typeface="Segoe UI"/>
              </a:defRPr>
            </a:pPr>
            <a:r>
              <a:t>Động cơ GraphRAG hỗ trợ chẩn đoán:</a:t>
            </a:r>
          </a:p>
          <a:p>
            <a:pPr>
              <a:spcBef>
                <a:spcPts val="400"/>
              </a:spcBef>
              <a:spcAft>
                <a:spcPts val="0"/>
              </a:spcAft>
              <a:defRPr sz="1250" b="0" i="0">
                <a:solidFill>
                  <a:srgbClr val="F8FAFC"/>
                </a:solidFill>
                <a:latin typeface="Segoe UI"/>
              </a:defRPr>
            </a:pPr>
            <a:r>
              <a:t>Bóc tách các tuyến tri thức liên kết (Knowledge Paths) từ Neo4j nạp vào prompt để LLM sinh chẩn đoán chính xác nhất.</a:t>
            </a:r>
          </a:p>
          <a:p>
            <a:pPr>
              <a:spcBef>
                <a:spcPts val="1000"/>
              </a:spcBef>
              <a:spcAft>
                <a:spcPts val="0"/>
              </a:spcAft>
              <a:defRPr sz="1250" b="1" i="0">
                <a:solidFill>
                  <a:srgbClr val="F43F5E"/>
                </a:solidFill>
                <a:latin typeface="Segoe UI"/>
              </a:defRPr>
            </a:pPr>
            <a:r>
              <a:t>Ngắt mạch an toàn lâm sàng (Clinical Circuit Breaker):</a:t>
            </a:r>
          </a:p>
          <a:p>
            <a:pPr>
              <a:spcBef>
                <a:spcPts val="400"/>
              </a:spcBef>
              <a:spcAft>
                <a:spcPts val="0"/>
              </a:spcAft>
              <a:defRPr sz="1250" b="0" i="0">
                <a:solidFill>
                  <a:srgbClr val="F8FAFC"/>
                </a:solidFill>
                <a:latin typeface="Segoe UI"/>
              </a:defRPr>
            </a:pPr>
            <a:r>
              <a:t>Module tự động quét bệnh án, đối chiếu chống chỉ định và tương tác thuốc trong thời gian thực. Phát hiện rủi ro lập tức ngắt hành động, hiển thị Cảnh báo đỏ y khoa (Red Alert).</a:t>
            </a:r>
          </a:p>
          <a:p>
            <a:pPr>
              <a:spcBef>
                <a:spcPts val="1000"/>
              </a:spcBef>
              <a:spcAft>
                <a:spcPts val="0"/>
              </a:spcAft>
              <a:defRPr sz="1250" b="1" i="0">
                <a:solidFill>
                  <a:srgbClr val="06B6D4"/>
                </a:solidFill>
                <a:latin typeface="Segoe UI"/>
              </a:defRPr>
            </a:pPr>
            <a:r>
              <a:t>Giao diện Web tương tác (ReactJS):</a:t>
            </a:r>
          </a:p>
          <a:p>
            <a:pPr>
              <a:spcBef>
                <a:spcPts val="400"/>
              </a:spcBef>
              <a:spcAft>
                <a:spcPts val="0"/>
              </a:spcAft>
              <a:defRPr sz="1250" b="0" i="0">
                <a:solidFill>
                  <a:srgbClr val="F8FAFC"/>
                </a:solidFill>
                <a:latin typeface="Segoe UI"/>
              </a:defRPr>
            </a:pPr>
            <a:r>
              <a:t>Tích hợp màn hình chat y khoa, bản đồ trực quan hóa đồ thị Neo4j, bảng thông số lâm sàng bệnh nhân EHR và ô cảnh báo ngắt mạch.</a:t>
            </a:r>
          </a:p>
        </p:txBody>
      </p:sp>
      <p:pic>
        <p:nvPicPr>
          <p:cNvPr id="9" name="Picture 8" descr="e2e_kg_pipeline.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Lê Quang Huy (Chủ nhiệm đề tài):</a:t>
            </a:r>
          </a:p>
          <a:p>
            <a:pPr>
              <a:spcBef>
                <a:spcPts val="400"/>
              </a:spcBef>
              <a:spcAft>
                <a:spcPts val="0"/>
              </a:spcAft>
              <a:defRPr sz="1250" b="0" i="0">
                <a:solidFill>
                  <a:srgbClr val="F8FAFC"/>
                </a:solidFill>
                <a:latin typeface="Segoe UI"/>
              </a:defRPr>
            </a:pPr>
            <a:r>
              <a:t>•  Thiết kế tổng thể thuật toán EDC, GraphRAG; quản lý tích hợp; định hướng khoa học và viết báo cáo thuyết minh.</a:t>
            </a:r>
          </a:p>
          <a:p>
            <a:pPr>
              <a:spcBef>
                <a:spcPts val="1000"/>
              </a:spcBef>
              <a:spcAft>
                <a:spcPts val="0"/>
              </a:spcAft>
              <a:defRPr sz="1250" b="1" i="0">
                <a:solidFill>
                  <a:srgbClr val="06B6D4"/>
                </a:solidFill>
                <a:latin typeface="Segoe UI"/>
              </a:defRPr>
            </a:pPr>
            <a:r>
              <a:t>Lưu An Thuận (Thư ký):</a:t>
            </a:r>
          </a:p>
          <a:p>
            <a:pPr>
              <a:spcBef>
                <a:spcPts val="400"/>
              </a:spcBef>
              <a:spcAft>
                <a:spcPts val="0"/>
              </a:spcAft>
              <a:defRPr sz="1250" b="0" i="0">
                <a:solidFill>
                  <a:srgbClr val="F8FAFC"/>
                </a:solidFill>
                <a:latin typeface="Segoe UI"/>
              </a:defRPr>
            </a:pPr>
            <a:r>
              <a:t>•  Khai thác tài liệu Merck Manuals; tiền xử lý làm sạch y văn; thiết lập và quản trị cơ sở dữ liệu Neo4j.</a:t>
            </a:r>
          </a:p>
          <a:p>
            <a:pPr>
              <a:spcBef>
                <a:spcPts val="1000"/>
              </a:spcBef>
              <a:spcAft>
                <a:spcPts val="0"/>
              </a:spcAft>
              <a:defRPr sz="1250" b="1" i="0">
                <a:solidFill>
                  <a:srgbClr val="06B6D4"/>
                </a:solidFill>
                <a:latin typeface="Segoe UI"/>
              </a:defRPr>
            </a:pPr>
            <a:r>
              <a:t>Lưu Vỹ Thuận (Thành viên):</a:t>
            </a:r>
          </a:p>
          <a:p>
            <a:pPr>
              <a:spcBef>
                <a:spcPts val="400"/>
              </a:spcBef>
              <a:spcAft>
                <a:spcPts val="0"/>
              </a:spcAft>
              <a:defRPr sz="1250" b="0" i="0">
                <a:solidFill>
                  <a:srgbClr val="F8FAFC"/>
                </a:solidFill>
                <a:latin typeface="Segoe UI"/>
              </a:defRPr>
            </a:pPr>
            <a:r>
              <a:t>•  Thiết kế Prompt LLM; xây dựng module định nghĩa NLG; lập trình tích hợp Circuit Breaker lên web demo.</a:t>
            </a:r>
          </a:p>
          <a:p>
            <a:pPr>
              <a:spcBef>
                <a:spcPts val="1000"/>
              </a:spcBef>
              <a:spcAft>
                <a:spcPts val="0"/>
              </a:spcAft>
              <a:defRPr sz="1250" b="1" i="0">
                <a:solidFill>
                  <a:srgbClr val="06B6D4"/>
                </a:solidFill>
                <a:latin typeface="Segoe UI"/>
              </a:defRPr>
            </a:pPr>
            <a:r>
              <a:t>Nguyễn Văn Hồ (Thành viên):</a:t>
            </a:r>
          </a:p>
          <a:p>
            <a:pPr>
              <a:spcBef>
                <a:spcPts val="400"/>
              </a:spcBef>
              <a:spcAft>
                <a:spcPts val="0"/>
              </a:spcAft>
              <a:defRPr sz="1250" b="0" i="0">
                <a:solidFill>
                  <a:srgbClr val="F8FAFC"/>
                </a:solidFill>
                <a:latin typeface="Segoe UI"/>
              </a:defRPr>
            </a:pPr>
            <a:r>
              <a:t>•  Xây dựng hệ thống thẩm định đa tác nhân (Agent Debate); viết module đo lường Precision, Recall, F1-Score.</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Tháng 04/2026:</a:t>
            </a:r>
          </a:p>
          <a:p>
            <a:pPr>
              <a:spcBef>
                <a:spcPts val="400"/>
              </a:spcBef>
              <a:spcAft>
                <a:spcPts val="0"/>
              </a:spcAft>
              <a:defRPr sz="1250" b="0" i="0">
                <a:solidFill>
                  <a:srgbClr val="F8FAFC"/>
                </a:solidFill>
                <a:latin typeface="Segoe UI"/>
              </a:defRPr>
            </a:pPr>
            <a:r>
              <a:t>•  Thu thập, phân loại phác đồ ADA/AACE.</a:t>
            </a:r>
            <a:br/>
            <a:r>
              <a:t>•  Thiết lập quy trình bóc tách layout tự động &amp; NLG parsing.</a:t>
            </a:r>
            <a:br/>
            <a:r>
              <a:t>•  Làm sạch văn bản thô, định nghĩa lược đồ đồ thị y khoa.</a:t>
            </a:r>
          </a:p>
          <a:p>
            <a:pPr>
              <a:spcBef>
                <a:spcPts val="1400"/>
              </a:spcBef>
              <a:spcAft>
                <a:spcPts val="0"/>
              </a:spcAft>
              <a:defRPr sz="1250" b="1" i="0">
                <a:solidFill>
                  <a:srgbClr val="06B6D4"/>
                </a:solidFill>
                <a:latin typeface="Segoe UI"/>
              </a:defRPr>
            </a:pPr>
            <a:r>
              <a:t>Tháng 05/2026:</a:t>
            </a:r>
          </a:p>
          <a:p>
            <a:pPr>
              <a:spcBef>
                <a:spcPts val="400"/>
              </a:spcBef>
              <a:spcAft>
                <a:spcPts val="0"/>
              </a:spcAft>
              <a:defRPr sz="1250" b="0" i="0">
                <a:solidFill>
                  <a:srgbClr val="F8FAFC"/>
                </a:solidFill>
                <a:latin typeface="Segoe UI"/>
              </a:defRPr>
            </a:pPr>
            <a:r>
              <a:t>•  Cài đặt quy trình trích xuất ràng buộc EDC.</a:t>
            </a:r>
            <a:br/>
            <a:r>
              <a:t>•  Xây dựng Hội đồng đa tác nhân thẩm định đồng thuận P2P.</a:t>
            </a:r>
            <a:br/>
            <a:r>
              <a:t>•  Thiết lập CSDL Neo4j và import dữ liệu chuẩn hóa.</a:t>
            </a:r>
          </a:p>
          <a:p>
            <a:pPr>
              <a:spcBef>
                <a:spcPts val="1400"/>
              </a:spcBef>
              <a:spcAft>
                <a:spcPts val="0"/>
              </a:spcAft>
              <a:defRPr sz="1250" b="1" i="0">
                <a:solidFill>
                  <a:srgbClr val="06B6D4"/>
                </a:solidFill>
                <a:latin typeface="Segoe UI"/>
              </a:defRPr>
            </a:pPr>
            <a:r>
              <a:t>Tháng 06/2026:</a:t>
            </a:r>
          </a:p>
          <a:p>
            <a:pPr>
              <a:spcBef>
                <a:spcPts val="400"/>
              </a:spcBef>
              <a:spcAft>
                <a:spcPts val="0"/>
              </a:spcAft>
              <a:defRPr sz="1250" b="0" i="0">
                <a:solidFill>
                  <a:srgbClr val="F8FAFC"/>
                </a:solidFill>
                <a:latin typeface="Segoe UI"/>
              </a:defRPr>
            </a:pPr>
            <a:r>
              <a:t>•  Phát triển backend FastAPI, GraphRAG và Circuit Breaker.</a:t>
            </a:r>
            <a:br/>
            <a:r>
              <a:t>•  Xây dựng giao diện web ReactJS tương tác đồ thị.</a:t>
            </a:r>
            <a:br/>
            <a:r>
              <a:t>•  Kiểm thử F1-Score hệ thống; viết báo cáo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spcBef>
                <a:spcPts val="1000"/>
              </a:spcBef>
              <a:spcAft>
                <a:spcPts val="0"/>
              </a:spcAft>
              <a:defRPr sz="1100" b="0" i="0">
                <a:solidFill>
                  <a:srgbClr val="F8FAFC"/>
                </a:solidFill>
                <a:latin typeface="Segoe UI"/>
              </a:defRPr>
            </a:pPr>
            <a:r>
              <a:t>[1] H. Xu et al., "medIKAL: Integrating KGs as Assistants of LLMs for Clinical Diagnosis on EMRs," IEEE TKDE, Feb. 2025.</a:t>
            </a:r>
          </a:p>
          <a:p>
            <a:pPr>
              <a:spcBef>
                <a:spcPts val="1000"/>
              </a:spcBef>
              <a:spcAft>
                <a:spcPts val="0"/>
              </a:spcAft>
              <a:defRPr sz="1100" b="0" i="0">
                <a:solidFill>
                  <a:srgbClr val="F8FAFC"/>
                </a:solidFill>
                <a:latin typeface="Segoe UI"/>
              </a:defRPr>
            </a:pPr>
            <a:r>
              <a:t>[2] L. M. Nguyen et al., "Local LLMs Integrated with GraphRAG for Gestational Diabetes Mellitus," Proc. IEEE BIBM, 2025.</a:t>
            </a:r>
          </a:p>
          <a:p>
            <a:pPr>
              <a:spcBef>
                <a:spcPts val="1000"/>
              </a:spcBef>
              <a:spcAft>
                <a:spcPts val="0"/>
              </a:spcAft>
              <a:defRPr sz="1100" b="0" i="0">
                <a:solidFill>
                  <a:srgbClr val="F8FAFC"/>
                </a:solidFill>
                <a:latin typeface="Segoe UI"/>
              </a:defRPr>
            </a:pPr>
            <a:r>
              <a:t>[3] X. Li et al., "LLM-Driven KG Construction for Personalized Diabetes Decision Support," IEEE JBHI, May 2024.</a:t>
            </a:r>
          </a:p>
          <a:p>
            <a:pPr>
              <a:spcBef>
                <a:spcPts val="1000"/>
              </a:spcBef>
              <a:spcAft>
                <a:spcPts val="0"/>
              </a:spcAft>
              <a:defRPr sz="1100" b="0" i="0">
                <a:solidFill>
                  <a:srgbClr val="F8FAFC"/>
                </a:solidFill>
                <a:latin typeface="Segoe UI"/>
              </a:defRPr>
            </a:pPr>
            <a:r>
              <a:t>[4] Y. Zhang et al., "AutoBioKG: Automated Context-Aware Biomedical KG Construction," IEEE/ACM TCBB, Jan. 2025.</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spcBef>
                <a:spcPts val="1000"/>
              </a:spcBef>
              <a:spcAft>
                <a:spcPts val="0"/>
              </a:spcAft>
              <a:defRPr sz="1100" b="0" i="0">
                <a:solidFill>
                  <a:srgbClr val="F8FAFC"/>
                </a:solidFill>
                <a:latin typeface="Segoe UI"/>
              </a:defRPr>
            </a:pPr>
            <a:r>
              <a:t>[5] E. Zhang &amp; H. Soh, "EDC: Extract-Define-Canonicalize Paradigm for Schema-Constrained KG Construction," EMNLP, Nov. 2024.</a:t>
            </a:r>
          </a:p>
          <a:p>
            <a:pPr>
              <a:spcBef>
                <a:spcPts val="1000"/>
              </a:spcBef>
              <a:spcAft>
                <a:spcPts val="0"/>
              </a:spcAft>
              <a:defRPr sz="1100" b="0" i="0">
                <a:solidFill>
                  <a:srgbClr val="F8FAFC"/>
                </a:solidFill>
                <a:latin typeface="Segoe UI"/>
              </a:defRPr>
            </a:pPr>
            <a:r>
              <a:t>[6] M. J. R. Smith &amp; K. L. Johnson, "Multi-Agent Debate &amp; Trust Validation for Clinical KGs," IEEE TNNLS, Mar. 2026.</a:t>
            </a:r>
          </a:p>
          <a:p>
            <a:pPr>
              <a:spcBef>
                <a:spcPts val="1000"/>
              </a:spcBef>
              <a:spcAft>
                <a:spcPts val="0"/>
              </a:spcAft>
              <a:defRPr sz="1100" b="0" i="0">
                <a:solidFill>
                  <a:srgbClr val="F8FAFC"/>
                </a:solidFill>
                <a:latin typeface="Segoe UI"/>
              </a:defRPr>
            </a:pPr>
            <a:r>
              <a:t>[7] Y. Du, S. Li et al., "Improving Factuality and Reasoning in LMs through Multiagent Debate," arXiv:2305.14325, 2023.</a:t>
            </a:r>
          </a:p>
          <a:p>
            <a:pPr>
              <a:spcBef>
                <a:spcPts val="1000"/>
              </a:spcBef>
              <a:spcAft>
                <a:spcPts val="0"/>
              </a:spcAft>
              <a:defRPr sz="1100" b="0" i="0">
                <a:solidFill>
                  <a:srgbClr val="F8FAFC"/>
                </a:solidFill>
                <a:latin typeface="Segoe UI"/>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600" b="1">
                <a:solidFill>
                  <a:srgbClr val="F8FAFC"/>
                </a:solidFill>
                <a:latin typeface="Segoe UI"/>
              </a:defRPr>
            </a:pPr>
            <a:r>
              <a:t>XIN TRÂN TRỌNG CẢM ƠN HỘI ĐỒNG!</a:t>
            </a:r>
          </a:p>
          <a:p>
            <a:pPr algn="ctr">
              <a:spcBef>
                <a:spcPts val="2500"/>
              </a:spcBef>
              <a:defRPr sz="1800">
                <a:solidFill>
                  <a:srgbClr val="94A3B8"/>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