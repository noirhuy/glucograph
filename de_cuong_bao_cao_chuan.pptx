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Rectangle 3"/>
          <p:cNvSpPr/>
          <p:nvPr/>
        </p:nvSpPr>
        <p:spPr>
          <a:xfrm>
            <a:off x="0" y="0"/>
            <a:ext cx="137160"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698480" cy="5029200"/>
          </a:xfrm>
          <a:prstGeom prst="rect">
            <a:avLst/>
          </a:prstGeom>
          <a:noFill/>
        </p:spPr>
        <p:txBody>
          <a:bodyPr wrap="square">
            <a:spAutoFit/>
          </a:bodyPr>
          <a:lstStyle/>
          <a:p>
            <a:pPr>
              <a:spcAft>
                <a:spcPts val="1500"/>
              </a:spcAft>
              <a:defRPr sz="1500" b="1">
                <a:solidFill>
                  <a:srgbClr val="06B6D4"/>
                </a:solidFill>
                <a:latin typeface="Segoe UI"/>
              </a:defRPr>
            </a:pPr>
            <a:r>
              <a:t>ĐỀ CƯƠNG ĐĂNG KÝ ĐỀ TÀI KH&amp;CN CẤP CƠ SỞ</a:t>
            </a:r>
          </a:p>
          <a:p>
            <a:pPr>
              <a:spcAft>
                <a:spcPts val="4000"/>
              </a:spcAft>
              <a:defRPr sz="3800" b="1">
                <a:solidFill>
                  <a:srgbClr val="F8FAFC"/>
                </a:solidFill>
                <a:latin typeface="Segoe UI"/>
              </a:defRPr>
            </a:pPr>
            <a:r>
              <a:t>Ứng Dụng LLM Xây Dựng Đồ Thị Tri Thức</a:t>
            </a:r>
            <a:br/>
            <a:r>
              <a:t>Hỗ Trợ Chẩn Đoán Bệnh Tiểu Đường</a:t>
            </a:r>
          </a:p>
          <a:p>
            <a:pPr>
              <a:spcAft>
                <a:spcPts val="800"/>
              </a:spcAft>
              <a:defRPr sz="1600" b="1">
                <a:solidFill>
                  <a:srgbClr val="10B981"/>
                </a:solidFill>
                <a:latin typeface="Segoe UI"/>
              </a:defRPr>
            </a:pPr>
            <a:r>
              <a:t>Chủ nhiệm đề tài: Lê Quang Huy (Lớp: DH22KPM01  ·  Khóa: 10)</a:t>
            </a:r>
          </a:p>
          <a:p>
            <a:pPr>
              <a:spcAft>
                <a:spcPts val="800"/>
              </a:spcAft>
              <a:defRPr sz="1500">
                <a:solidFill>
                  <a:srgbClr val="F8FAFC"/>
                </a:solidFill>
                <a:latin typeface="Segoe UI"/>
              </a:defRPr>
            </a:pPr>
            <a:r>
              <a:t>Thành viên nghiên cứu: Lưu An Thuận (Thư ký)  ·  Lưu Vỹ Thuận  ·  Nguyễn Văn Hồ</a:t>
            </a:r>
          </a:p>
          <a:p>
            <a:pPr>
              <a:defRPr sz="1500" b="1">
                <a:solidFill>
                  <a:srgbClr val="06B6D4"/>
                </a:solidFill>
                <a:latin typeface="Segoe UI"/>
              </a:defRPr>
            </a:pPr>
            <a:r>
              <a:t>Giảng viên hướng dẫn: ThS. Đặng Mạnh Huy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1. TỔNG QUAN &amp; ĐẶT VẤN ĐỀ</a:t>
            </a:r>
          </a:p>
        </p:txBody>
      </p:sp>
      <p:sp>
        <p:nvSpPr>
          <p:cNvPr id="5" name="Rounded Rectangle 4"/>
          <p:cNvSpPr/>
          <p:nvPr/>
        </p:nvSpPr>
        <p:spPr>
          <a:xfrm>
            <a:off x="548640" y="1097280"/>
            <a:ext cx="5303520" cy="21945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480560" cy="1920240"/>
          </a:xfrm>
          <a:prstGeom prst="rect">
            <a:avLst/>
          </a:prstGeom>
          <a:noFill/>
        </p:spPr>
        <p:txBody>
          <a:bodyPr wrap="square">
            <a:spAutoFit/>
          </a:bodyPr>
          <a:lstStyle/>
          <a:p>
            <a:pPr>
              <a:spcAft>
                <a:spcPts val="800"/>
              </a:spcAft>
              <a:defRPr sz="1600" b="1">
                <a:solidFill>
                  <a:srgbClr val="06B6D4"/>
                </a:solidFill>
                <a:latin typeface="Segoe UI"/>
              </a:defRPr>
            </a:pPr>
            <a:r>
              <a:t>Bối cảnh thực tiễn</a:t>
            </a:r>
          </a:p>
          <a:p>
            <a:pPr>
              <a:lnSpc>
                <a:spcPct val="115000"/>
              </a:lnSpc>
              <a:defRPr sz="1400" b="0">
                <a:solidFill>
                  <a:srgbClr val="F8FAFC"/>
                </a:solidFill>
                <a:latin typeface="Segoe UI"/>
              </a:defRPr>
            </a:pPr>
            <a:r>
              <a:t>Khai thác y văn tự động đòi hỏi độ chính xác tuyệt đối.</a:t>
            </a:r>
          </a:p>
          <a:p>
            <a:pPr>
              <a:lnSpc>
                <a:spcPct val="115000"/>
              </a:lnSpc>
              <a:defRPr sz="1400" b="0">
                <a:solidFill>
                  <a:srgbClr val="F8FAFC"/>
                </a:solidFill>
                <a:latin typeface="Segoe UI"/>
              </a:defRPr>
            </a:pPr>
            <a:r>
              <a:t>Đồ thị tri thức (KG) cung cấp biểu diễn tri thức y sinh minh bạch, làm nền tảng cho lập luận lâm sàng giải thích được (Explainable AI).</a:t>
            </a:r>
          </a:p>
        </p:txBody>
      </p:sp>
      <p:sp>
        <p:nvSpPr>
          <p:cNvPr id="8" name="Rounded Rectangle 7"/>
          <p:cNvSpPr/>
          <p:nvPr/>
        </p:nvSpPr>
        <p:spPr>
          <a:xfrm>
            <a:off x="548640" y="3474720"/>
            <a:ext cx="5303520" cy="256032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363931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1234440" y="3611880"/>
            <a:ext cx="4480560" cy="2286000"/>
          </a:xfrm>
          <a:prstGeom prst="rect">
            <a:avLst/>
          </a:prstGeom>
          <a:noFill/>
        </p:spPr>
        <p:txBody>
          <a:bodyPr wrap="square">
            <a:spAutoFit/>
          </a:bodyPr>
          <a:lstStyle/>
          <a:p>
            <a:pPr>
              <a:spcAft>
                <a:spcPts val="800"/>
              </a:spcAft>
              <a:defRPr sz="1600" b="1">
                <a:solidFill>
                  <a:srgbClr val="10B981"/>
                </a:solidFill>
                <a:latin typeface="Segoe UI"/>
              </a:defRPr>
            </a:pPr>
            <a:r>
              <a:t>Khoảng trống nghiên cứu</a:t>
            </a:r>
          </a:p>
          <a:p>
            <a:pPr>
              <a:lnSpc>
                <a:spcPct val="115000"/>
              </a:lnSpc>
              <a:defRPr sz="1400" b="0">
                <a:solidFill>
                  <a:srgbClr val="F8FAFC"/>
                </a:solidFill>
                <a:latin typeface="Segoe UI"/>
              </a:defRPr>
            </a:pPr>
            <a:r>
              <a:t>Chưa có quy trình tự động hóa dựng Đồ thị tri thức chuyên sâu đái tháo đường theo framework EDC ràng buộc siêu từ điển UMLS.</a:t>
            </a:r>
          </a:p>
          <a:p>
            <a:pPr>
              <a:lnSpc>
                <a:spcPct val="115000"/>
              </a:lnSpc>
              <a:defRPr sz="1400" b="0">
                <a:solidFill>
                  <a:srgbClr val="F8FAFC"/>
                </a:solidFill>
                <a:latin typeface="Segoe UI"/>
              </a:defRPr>
            </a:pPr>
            <a:r>
              <a:t>Thiếu vắng sự phối hợp với cơ chế phản biện đa tác nhân đồng cấp (P2P Debate Gate) tích hợp luật Veto lâm sàng để triệt tiêu ảo giác.</a:t>
            </a:r>
          </a:p>
        </p:txBody>
      </p:sp>
      <p:sp>
        <p:nvSpPr>
          <p:cNvPr id="11" name="Rounded Rectangle 10"/>
          <p:cNvSpPr/>
          <p:nvPr/>
        </p:nvSpPr>
        <p:spPr>
          <a:xfrm>
            <a:off x="6217920" y="1097280"/>
            <a:ext cx="5394960" cy="4937760"/>
          </a:xfrm>
          <a:prstGeom prst="roundRect">
            <a:avLst/>
          </a:prstGeom>
          <a:solidFill>
            <a:srgbClr val="221926"/>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1261872"/>
            <a:ext cx="411480" cy="411480"/>
          </a:xfrm>
          <a:prstGeom prst="ellipse">
            <a:avLst/>
          </a:prstGeom>
          <a:solidFill>
            <a:srgbClr val="221926"/>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3" name="TextBox 12"/>
          <p:cNvSpPr txBox="1"/>
          <p:nvPr/>
        </p:nvSpPr>
        <p:spPr>
          <a:xfrm>
            <a:off x="6903720" y="1234440"/>
            <a:ext cx="4572000" cy="4663440"/>
          </a:xfrm>
          <a:prstGeom prst="rect">
            <a:avLst/>
          </a:prstGeom>
          <a:noFill/>
        </p:spPr>
        <p:txBody>
          <a:bodyPr wrap="square">
            <a:spAutoFit/>
          </a:bodyPr>
          <a:lstStyle/>
          <a:p>
            <a:pPr>
              <a:spcAft>
                <a:spcPts val="800"/>
              </a:spcAft>
              <a:defRPr sz="1600" b="1">
                <a:solidFill>
                  <a:srgbClr val="F43F5E"/>
                </a:solidFill>
                <a:latin typeface="Segoe UI"/>
              </a:defRPr>
            </a:pPr>
            <a:r>
              <a:t>Rào cản chí mạng khi dùng LLM độc lập</a:t>
            </a:r>
          </a:p>
          <a:p>
            <a:pPr>
              <a:lnSpc>
                <a:spcPct val="115000"/>
              </a:lnSpc>
              <a:spcBef>
                <a:spcPts val="400"/>
              </a:spcBef>
              <a:spcAft>
                <a:spcPts val="0"/>
              </a:spcAft>
              <a:defRPr sz="1400" b="1" i="0">
                <a:solidFill>
                  <a:srgbClr val="F43F5E"/>
                </a:solidFill>
                <a:latin typeface="Segoe UI"/>
              </a:defRPr>
            </a:pPr>
            <a:r>
              <a:t>Hiện tượng ảo giác tri thức (hallucination):</a:t>
            </a:r>
          </a:p>
          <a:p>
            <a:pPr>
              <a:lnSpc>
                <a:spcPct val="115000"/>
              </a:lnSpc>
              <a:spcBef>
                <a:spcPts val="400"/>
              </a:spcBef>
              <a:spcAft>
                <a:spcPts val="0"/>
              </a:spcAft>
              <a:defRPr sz="1400" b="0" i="0">
                <a:solidFill>
                  <a:srgbClr val="F8FAFC"/>
                </a:solidFill>
                <a:latin typeface="Segoe UI"/>
              </a:defRPr>
            </a:pPr>
            <a:r>
              <a:t>LLM dễ sinh câu trả lời tự tin nhưng không chính xác với y văn lâm sàng thực tế [1].</a:t>
            </a:r>
          </a:p>
          <a:p>
            <a:pPr>
              <a:lnSpc>
                <a:spcPct val="115000"/>
              </a:lnSpc>
              <a:spcBef>
                <a:spcPts val="1200"/>
              </a:spcBef>
              <a:spcAft>
                <a:spcPts val="0"/>
              </a:spcAft>
              <a:defRPr sz="1400" b="1" i="0">
                <a:solidFill>
                  <a:srgbClr val="F43F5E"/>
                </a:solidFill>
                <a:latin typeface="Segoe UI"/>
              </a:defRPr>
            </a:pPr>
            <a:r>
              <a:t>Thiếu minh chứng lâm sàng:</a:t>
            </a:r>
          </a:p>
          <a:p>
            <a:pPr>
              <a:lnSpc>
                <a:spcPct val="115000"/>
              </a:lnSpc>
              <a:spcBef>
                <a:spcPts val="400"/>
              </a:spcBef>
              <a:spcAft>
                <a:spcPts val="0"/>
              </a:spcAft>
              <a:defRPr sz="1400" b="0" i="0">
                <a:solidFill>
                  <a:srgbClr val="F8FAFC"/>
                </a:solidFill>
                <a:latin typeface="Segoe UI"/>
              </a:defRPr>
            </a:pPr>
            <a:r>
              <a:t>Không có khả năng đối khớp nguồn gốc của thực thể và quan hệ y sinh được trích xuất.</a:t>
            </a:r>
          </a:p>
          <a:p>
            <a:pPr>
              <a:lnSpc>
                <a:spcPct val="115000"/>
              </a:lnSpc>
              <a:spcBef>
                <a:spcPts val="1200"/>
              </a:spcBef>
              <a:spcAft>
                <a:spcPts val="0"/>
              </a:spcAft>
              <a:defRPr sz="1400" b="1" i="0">
                <a:solidFill>
                  <a:srgbClr val="F43F5E"/>
                </a:solidFill>
                <a:latin typeface="Segoe UI"/>
              </a:defRPr>
            </a:pPr>
            <a:r>
              <a:t>Không có ràng buộc lược đồ (Schema):</a:t>
            </a:r>
          </a:p>
          <a:p>
            <a:pPr>
              <a:lnSpc>
                <a:spcPct val="115000"/>
              </a:lnSpc>
              <a:spcBef>
                <a:spcPts val="400"/>
              </a:spcBef>
              <a:spcAft>
                <a:spcPts val="0"/>
              </a:spcAft>
              <a:defRPr sz="1400" b="0" i="0">
                <a:solidFill>
                  <a:srgbClr val="F8FAFC"/>
                </a:solidFill>
                <a:latin typeface="Segoe UI"/>
              </a:defRPr>
            </a:pPr>
            <a:r>
              <a:t>Trích xuất tự do dễ dẫn đến các bộ ba tri thức phi logic y sinh học.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1b. CÁC NGHIÊN CỨU TIỀN ĐỀ LIÊN QUAN</a:t>
            </a:r>
          </a:p>
        </p:txBody>
      </p:sp>
      <p:sp>
        <p:nvSpPr>
          <p:cNvPr id="5" name="Rounded Rectangle 4"/>
          <p:cNvSpPr/>
          <p:nvPr/>
        </p:nvSpPr>
        <p:spPr>
          <a:xfrm>
            <a:off x="548640" y="1097280"/>
            <a:ext cx="347472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2651760" cy="4663440"/>
          </a:xfrm>
          <a:prstGeom prst="rect">
            <a:avLst/>
          </a:prstGeom>
          <a:noFill/>
        </p:spPr>
        <p:txBody>
          <a:bodyPr wrap="square">
            <a:spAutoFit/>
          </a:bodyPr>
          <a:lstStyle/>
          <a:p>
            <a:pPr>
              <a:spcAft>
                <a:spcPts val="800"/>
              </a:spcAft>
              <a:defRPr sz="1600" b="1">
                <a:solidFill>
                  <a:srgbClr val="06B6D4"/>
                </a:solidFill>
                <a:latin typeface="Segoe UI"/>
              </a:defRPr>
            </a:pPr>
            <a:r>
              <a:t>Lập luận LLM &amp; Đồ thị y tế</a:t>
            </a:r>
          </a:p>
          <a:p>
            <a:pPr>
              <a:lnSpc>
                <a:spcPct val="115000"/>
              </a:lnSpc>
              <a:spcBef>
                <a:spcPts val="600"/>
              </a:spcBef>
              <a:spcAft>
                <a:spcPts val="0"/>
              </a:spcAft>
              <a:defRPr sz="1350" b="1" i="0">
                <a:solidFill>
                  <a:srgbClr val="06B6D4"/>
                </a:solidFill>
                <a:latin typeface="Segoe UI"/>
              </a:defRPr>
            </a:pPr>
            <a:r>
              <a:t>Xu hướng y học lâm sàng:</a:t>
            </a:r>
          </a:p>
          <a:p>
            <a:pPr>
              <a:lnSpc>
                <a:spcPct val="115000"/>
              </a:lnSpc>
              <a:spcBef>
                <a:spcPts val="600"/>
              </a:spcBef>
              <a:spcAft>
                <a:spcPts val="0"/>
              </a:spcAft>
              <a:defRPr sz="1350" b="0" i="0">
                <a:solidFill>
                  <a:srgbClr val="F8FAFC"/>
                </a:solidFill>
                <a:latin typeface="Segoe UI"/>
              </a:defRPr>
            </a:pPr>
            <a:r>
              <a:t>Kết hợp thế mạnh biểu diễn lập luận ngôn ngữ tự nhiên của LLM và tính chính xác, minh bạch dữ liệu của Đồ thị tri thức (KG) trong môi trường lâm sàng y tế chuyên sâu [1][2].</a:t>
            </a:r>
          </a:p>
        </p:txBody>
      </p:sp>
      <p:sp>
        <p:nvSpPr>
          <p:cNvPr id="8" name="Rounded Rectangle 7"/>
          <p:cNvSpPr/>
          <p:nvPr/>
        </p:nvSpPr>
        <p:spPr>
          <a:xfrm>
            <a:off x="4297680" y="1097280"/>
            <a:ext cx="35661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8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4983480" y="1234440"/>
            <a:ext cx="2743200" cy="4663440"/>
          </a:xfrm>
          <a:prstGeom prst="rect">
            <a:avLst/>
          </a:prstGeom>
          <a:noFill/>
        </p:spPr>
        <p:txBody>
          <a:bodyPr wrap="square">
            <a:spAutoFit/>
          </a:bodyPr>
          <a:lstStyle/>
          <a:p>
            <a:pPr>
              <a:spcAft>
                <a:spcPts val="800"/>
              </a:spcAft>
              <a:defRPr sz="1600" b="1">
                <a:solidFill>
                  <a:srgbClr val="10B981"/>
                </a:solidFill>
                <a:latin typeface="Segoe UI"/>
              </a:defRPr>
            </a:pPr>
            <a:r>
              <a:t>Tự động xây dựng KG y sinh</a:t>
            </a:r>
          </a:p>
          <a:p>
            <a:pPr>
              <a:lnSpc>
                <a:spcPct val="115000"/>
              </a:lnSpc>
              <a:spcBef>
                <a:spcPts val="600"/>
              </a:spcBef>
              <a:spcAft>
                <a:spcPts val="0"/>
              </a:spcAft>
              <a:defRPr sz="1350" b="1" i="0">
                <a:solidFill>
                  <a:srgbClr val="10B981"/>
                </a:solidFill>
                <a:latin typeface="Segoe UI"/>
              </a:defRPr>
            </a:pPr>
            <a:r>
              <a:t>Thay thế phương pháp thủ công:</a:t>
            </a:r>
          </a:p>
          <a:p>
            <a:pPr>
              <a:lnSpc>
                <a:spcPct val="115000"/>
              </a:lnSpc>
              <a:spcBef>
                <a:spcPts val="600"/>
              </a:spcBef>
              <a:spcAft>
                <a:spcPts val="0"/>
              </a:spcAft>
              <a:defRPr sz="1350" b="0" i="0">
                <a:solidFill>
                  <a:srgbClr val="F8FAFC"/>
                </a:solidFill>
                <a:latin typeface="Segoe UI"/>
              </a:defRPr>
            </a:pPr>
            <a:r>
              <a:t>Sử dụng Prompt engineering nâng cao [3] và các hệ thống mở rộng tự động như AutoBioKG [4].</a:t>
            </a:r>
          </a:p>
          <a:p>
            <a:pPr>
              <a:lnSpc>
                <a:spcPct val="115000"/>
              </a:lnSpc>
              <a:spcBef>
                <a:spcPts val="1200"/>
              </a:spcBef>
              <a:spcAft>
                <a:spcPts val="0"/>
              </a:spcAft>
              <a:defRPr sz="1350" b="1" i="0">
                <a:solidFill>
                  <a:srgbClr val="10B981"/>
                </a:solidFill>
                <a:latin typeface="Segoe UI"/>
              </a:defRPr>
            </a:pPr>
            <a:r>
              <a:t>Framework EDC [5]:</a:t>
            </a:r>
          </a:p>
          <a:p>
            <a:pPr>
              <a:lnSpc>
                <a:spcPct val="115000"/>
              </a:lnSpc>
              <a:spcBef>
                <a:spcPts val="600"/>
              </a:spcBef>
              <a:spcAft>
                <a:spcPts val="0"/>
              </a:spcAft>
              <a:defRPr sz="1350" b="0" i="0">
                <a:solidFill>
                  <a:srgbClr val="F8FAFC"/>
                </a:solidFill>
                <a:latin typeface="Segoe UI"/>
              </a:defRPr>
            </a:pPr>
            <a:r>
              <a:t>Giải quyết bài toán trích xuất y sinh ràng buộc lược đồ nghiêm ngặt, chuẩn hóa thực thể và quan hệ theo siêu từ điển y học.</a:t>
            </a:r>
          </a:p>
        </p:txBody>
      </p:sp>
      <p:sp>
        <p:nvSpPr>
          <p:cNvPr id="11" name="Rounded Rectangle 10"/>
          <p:cNvSpPr/>
          <p:nvPr/>
        </p:nvSpPr>
        <p:spPr>
          <a:xfrm>
            <a:off x="8138160" y="1097280"/>
            <a:ext cx="3474720" cy="4937760"/>
          </a:xfrm>
          <a:prstGeom prst="roundRect">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66760" y="1261872"/>
            <a:ext cx="411480" cy="411480"/>
          </a:xfrm>
          <a:prstGeom prst="ellipse">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3" name="TextBox 12"/>
          <p:cNvSpPr txBox="1"/>
          <p:nvPr/>
        </p:nvSpPr>
        <p:spPr>
          <a:xfrm>
            <a:off x="8823960" y="1234440"/>
            <a:ext cx="2651760" cy="4663440"/>
          </a:xfrm>
          <a:prstGeom prst="rect">
            <a:avLst/>
          </a:prstGeom>
          <a:noFill/>
        </p:spPr>
        <p:txBody>
          <a:bodyPr wrap="square">
            <a:spAutoFit/>
          </a:bodyPr>
          <a:lstStyle/>
          <a:p>
            <a:pPr>
              <a:spcAft>
                <a:spcPts val="800"/>
              </a:spcAft>
              <a:defRPr sz="1600" b="1">
                <a:solidFill>
                  <a:srgbClr val="F43F5E"/>
                </a:solidFill>
                <a:latin typeface="Segoe UI"/>
              </a:defRPr>
            </a:pPr>
            <a:r>
              <a:t>Thẩm định qua Multi-Agent</a:t>
            </a:r>
          </a:p>
          <a:p>
            <a:pPr>
              <a:lnSpc>
                <a:spcPct val="115000"/>
              </a:lnSpc>
              <a:spcBef>
                <a:spcPts val="600"/>
              </a:spcBef>
              <a:spcAft>
                <a:spcPts val="0"/>
              </a:spcAft>
              <a:defRPr sz="1350" b="1" i="0">
                <a:solidFill>
                  <a:srgbClr val="F43F5E"/>
                </a:solidFill>
                <a:latin typeface="Segoe UI"/>
              </a:defRPr>
            </a:pPr>
            <a:r>
              <a:t>Đánh giá chất lượng tự động:</a:t>
            </a:r>
          </a:p>
          <a:p>
            <a:pPr>
              <a:lnSpc>
                <a:spcPct val="115000"/>
              </a:lnSpc>
              <a:spcBef>
                <a:spcPts val="600"/>
              </a:spcBef>
              <a:spcAft>
                <a:spcPts val="0"/>
              </a:spcAft>
              <a:defRPr sz="1350" b="0" i="0">
                <a:solidFill>
                  <a:srgbClr val="F8FAFC"/>
                </a:solidFill>
                <a:latin typeface="Segoe UI"/>
              </a:defRPr>
            </a:pPr>
            <a:r>
              <a:t>Ứng dụng mô hình thẩm định tự động 'LLM-as-a-judge' kết hợp truy xuất tăng cường RAG [6].</a:t>
            </a:r>
          </a:p>
          <a:p>
            <a:pPr>
              <a:lnSpc>
                <a:spcPct val="115000"/>
              </a:lnSpc>
              <a:spcBef>
                <a:spcPts val="1200"/>
              </a:spcBef>
              <a:spcAft>
                <a:spcPts val="0"/>
              </a:spcAft>
              <a:defRPr sz="1350" b="1" i="0">
                <a:solidFill>
                  <a:srgbClr val="F43F5E"/>
                </a:solidFill>
                <a:latin typeface="Segoe UI"/>
              </a:defRPr>
            </a:pPr>
            <a:r>
              <a:t>Giao thức phản biện chéo:</a:t>
            </a:r>
          </a:p>
          <a:p>
            <a:pPr>
              <a:lnSpc>
                <a:spcPct val="115000"/>
              </a:lnSpc>
              <a:spcBef>
                <a:spcPts val="600"/>
              </a:spcBef>
              <a:spcAft>
                <a:spcPts val="0"/>
              </a:spcAft>
              <a:defRPr sz="1350" b="0" i="0">
                <a:solidFill>
                  <a:srgbClr val="F8FAFC"/>
                </a:solidFill>
                <a:latin typeface="Segoe UI"/>
              </a:defRPr>
            </a:pPr>
            <a:r>
              <a:t>Sử dụng Giao thức Tranh luận Đa tác nhân (Multi-Agent Debate) của MIT &amp; Google Brain [7] và ChatEval [8] đồng cấp để triệt tiêu tối đa hiện tượng ảo giác lâm sàng.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2. MỤC TIÊU &amp; PHẠM VI NGHIÊN CỨU</a:t>
            </a:r>
          </a:p>
        </p:txBody>
      </p:sp>
      <p:sp>
        <p:nvSpPr>
          <p:cNvPr id="5" name="Rounded Rectangle 4"/>
          <p:cNvSpPr/>
          <p:nvPr/>
        </p:nvSpPr>
        <p:spPr>
          <a:xfrm>
            <a:off x="548640" y="1097280"/>
            <a:ext cx="53949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4663440"/>
          </a:xfrm>
          <a:prstGeom prst="rect">
            <a:avLst/>
          </a:prstGeom>
          <a:noFill/>
        </p:spPr>
        <p:txBody>
          <a:bodyPr wrap="square">
            <a:spAutoFit/>
          </a:bodyPr>
          <a:lstStyle/>
          <a:p>
            <a:pPr>
              <a:spcAft>
                <a:spcPts val="800"/>
              </a:spcAft>
              <a:defRPr sz="1600" b="1">
                <a:solidFill>
                  <a:srgbClr val="10B981"/>
                </a:solidFill>
                <a:latin typeface="Segoe UI"/>
              </a:defRPr>
            </a:pPr>
            <a:r>
              <a:t>Mục tiêu nghiên cứu</a:t>
            </a:r>
          </a:p>
          <a:p>
            <a:pPr>
              <a:lnSpc>
                <a:spcPct val="115000"/>
              </a:lnSpc>
              <a:spcBef>
                <a:spcPts val="600"/>
              </a:spcBef>
              <a:spcAft>
                <a:spcPts val="0"/>
              </a:spcAft>
              <a:defRPr sz="1400" b="1" i="0">
                <a:solidFill>
                  <a:srgbClr val="10B981"/>
                </a:solidFill>
                <a:latin typeface="Segoe UI"/>
              </a:defRPr>
            </a:pPr>
            <a:r>
              <a:t>Mục tiêu chính:</a:t>
            </a:r>
          </a:p>
          <a:p>
            <a:pPr>
              <a:lnSpc>
                <a:spcPct val="115000"/>
              </a:lnSpc>
              <a:spcBef>
                <a:spcPts val="600"/>
              </a:spcBef>
              <a:spcAft>
                <a:spcPts val="0"/>
              </a:spcAft>
              <a:defRPr sz="1400" b="0" i="0">
                <a:solidFill>
                  <a:srgbClr val="F8FAFC"/>
                </a:solidFill>
                <a:latin typeface="Segoe UI"/>
              </a:defRPr>
            </a:pPr>
            <a:r>
              <a:t>Ứng dụng LLM xây dựng Đồ thị tri thức chuẩn hóa UMLS hỗ trợ chẩn đoán đái tháo đường; thiết lập quy trình thẩm định chất lượng tri thức tự động dựa trên giao thức Đa tác nhân (Multi-Agent).</a:t>
            </a:r>
          </a:p>
          <a:p>
            <a:pPr>
              <a:lnSpc>
                <a:spcPct val="115000"/>
              </a:lnSpc>
              <a:spcBef>
                <a:spcPts val="1200"/>
              </a:spcBef>
              <a:spcAft>
                <a:spcPts val="0"/>
              </a:spcAft>
              <a:defRPr sz="1400" b="1" i="0">
                <a:solidFill>
                  <a:srgbClr val="10B981"/>
                </a:solidFill>
                <a:latin typeface="Segoe UI"/>
              </a:defRPr>
            </a:pPr>
            <a:r>
              <a:t>Mục tiêu cụ thể:</a:t>
            </a:r>
          </a:p>
          <a:p>
            <a:pPr>
              <a:lnSpc>
                <a:spcPct val="115000"/>
              </a:lnSpc>
              <a:spcBef>
                <a:spcPts val="600"/>
              </a:spcBef>
              <a:spcAft>
                <a:spcPts val="0"/>
              </a:spcAft>
              <a:defRPr sz="1400" b="0" i="0">
                <a:solidFill>
                  <a:srgbClr val="F8FAFC"/>
                </a:solidFill>
                <a:latin typeface="Segoe UI"/>
              </a:defRPr>
            </a:pPr>
            <a:r>
              <a:t>1. Tiền xử lý tự động dữ liệu y văn từ cẩm nang Merck Manuals Professional Version.</a:t>
            </a:r>
          </a:p>
          <a:p>
            <a:pPr>
              <a:lnSpc>
                <a:spcPct val="115000"/>
              </a:lnSpc>
              <a:spcBef>
                <a:spcPts val="400"/>
              </a:spcBef>
              <a:spcAft>
                <a:spcPts val="0"/>
              </a:spcAft>
              <a:defRPr sz="1400" b="0" i="0">
                <a:solidFill>
                  <a:srgbClr val="F8FAFC"/>
                </a:solidFill>
                <a:latin typeface="Segoe UI"/>
              </a:defRPr>
            </a:pPr>
            <a:r>
              <a:t>2. Trích xuất tri thức theo EDC framework, chuẩn hóa UMLS CUI.</a:t>
            </a:r>
          </a:p>
          <a:p>
            <a:pPr>
              <a:lnSpc>
                <a:spcPct val="115000"/>
              </a:lnSpc>
              <a:spcBef>
                <a:spcPts val="400"/>
              </a:spcBef>
              <a:spcAft>
                <a:spcPts val="0"/>
              </a:spcAft>
              <a:defRPr sz="1400" b="0" i="0">
                <a:solidFill>
                  <a:srgbClr val="F8FAFC"/>
                </a:solidFill>
                <a:latin typeface="Segoe UI"/>
              </a:defRPr>
            </a:pPr>
            <a:r>
              <a:t>3. Thiết lập &amp; tối ưu hóa cơ sở dữ liệu đồ thị Neo4j.</a:t>
            </a:r>
          </a:p>
          <a:p>
            <a:pPr>
              <a:lnSpc>
                <a:spcPct val="115000"/>
              </a:lnSpc>
              <a:spcBef>
                <a:spcPts val="400"/>
              </a:spcBef>
              <a:spcAft>
                <a:spcPts val="0"/>
              </a:spcAft>
              <a:defRPr sz="1400" b="0" i="0">
                <a:solidFill>
                  <a:srgbClr val="F8FAFC"/>
                </a:solidFill>
                <a:latin typeface="Segoe UI"/>
              </a:defRPr>
            </a:pPr>
            <a:r>
              <a:t>4. Đánh giá chất lượng đồ thị qua giao thức phản biện Multi-Agent.</a:t>
            </a:r>
          </a:p>
          <a:p>
            <a:pPr>
              <a:lnSpc>
                <a:spcPct val="115000"/>
              </a:lnSpc>
              <a:spcBef>
                <a:spcPts val="400"/>
              </a:spcBef>
              <a:spcAft>
                <a:spcPts val="0"/>
              </a:spcAft>
              <a:defRPr sz="1400" b="0" i="0">
                <a:solidFill>
                  <a:srgbClr val="F8FAFC"/>
                </a:solidFill>
                <a:latin typeface="Segoe UI"/>
              </a:defRPr>
            </a:pPr>
            <a:r>
              <a:t>5. Triển khai Web demo CDSS tích hợp ngắt mạch y khoa an toàn.</a:t>
            </a:r>
          </a:p>
        </p:txBody>
      </p:sp>
      <p:sp>
        <p:nvSpPr>
          <p:cNvPr id="8" name="Rounded Rectangle 7"/>
          <p:cNvSpPr/>
          <p:nvPr/>
        </p:nvSpPr>
        <p:spPr>
          <a:xfrm>
            <a:off x="6217920" y="1097280"/>
            <a:ext cx="539496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4663440"/>
          </a:xfrm>
          <a:prstGeom prst="rect">
            <a:avLst/>
          </a:prstGeom>
          <a:noFill/>
        </p:spPr>
        <p:txBody>
          <a:bodyPr wrap="square">
            <a:spAutoFit/>
          </a:bodyPr>
          <a:lstStyle/>
          <a:p>
            <a:pPr>
              <a:spcAft>
                <a:spcPts val="800"/>
              </a:spcAft>
              <a:defRPr sz="1600" b="1">
                <a:solidFill>
                  <a:srgbClr val="06B6D4"/>
                </a:solidFill>
                <a:latin typeface="Segoe UI"/>
              </a:defRPr>
            </a:pPr>
            <a:r>
              <a:t>Phạm vi &amp; Giới hạn thực nghiệm</a:t>
            </a:r>
          </a:p>
          <a:p>
            <a:pPr>
              <a:lnSpc>
                <a:spcPct val="115000"/>
              </a:lnSpc>
              <a:spcBef>
                <a:spcPts val="600"/>
              </a:spcBef>
              <a:spcAft>
                <a:spcPts val="0"/>
              </a:spcAft>
              <a:defRPr sz="1400" b="1" i="0">
                <a:solidFill>
                  <a:srgbClr val="06B6D4"/>
                </a:solidFill>
                <a:latin typeface="Segoe UI"/>
              </a:defRPr>
            </a:pPr>
            <a:r>
              <a:t>Đối tượng nghiên cứu:</a:t>
            </a:r>
          </a:p>
          <a:p>
            <a:pPr>
              <a:lnSpc>
                <a:spcPct val="115000"/>
              </a:lnSpc>
              <a:spcBef>
                <a:spcPts val="600"/>
              </a:spcBef>
              <a:spcAft>
                <a:spcPts val="0"/>
              </a:spcAft>
              <a:defRPr sz="1400" b="0" i="0">
                <a:solidFill>
                  <a:srgbClr val="F8FAFC"/>
                </a:solidFill>
                <a:latin typeface="Segoe UI"/>
              </a:defRPr>
            </a:pPr>
            <a:r>
              <a:t>Quy trình trích xuất, chuẩn hóa tri thức (UMLS CUI) và giao thức tự động hóa thẩm định chất lượng đồ thị bằng Đa tác nhân chuyên ngành đái tháo đường.</a:t>
            </a:r>
          </a:p>
          <a:p>
            <a:pPr>
              <a:lnSpc>
                <a:spcPct val="115000"/>
              </a:lnSpc>
              <a:spcBef>
                <a:spcPts val="1400"/>
              </a:spcBef>
              <a:spcAft>
                <a:spcPts val="0"/>
              </a:spcAft>
              <a:defRPr sz="1400" b="1" i="0">
                <a:solidFill>
                  <a:srgbClr val="06B6D4"/>
                </a:solidFill>
                <a:latin typeface="Segoe UI"/>
              </a:defRPr>
            </a:pPr>
            <a:r>
              <a:t>Dữ liệu thực nghiệm:</a:t>
            </a:r>
          </a:p>
          <a:p>
            <a:pPr>
              <a:lnSpc>
                <a:spcPct val="115000"/>
              </a:lnSpc>
              <a:spcBef>
                <a:spcPts val="600"/>
              </a:spcBef>
              <a:spcAft>
                <a:spcPts val="0"/>
              </a:spcAft>
              <a:defRPr sz="1400" b="0" i="0">
                <a:solidFill>
                  <a:srgbClr val="F8FAFC"/>
                </a:solidFill>
                <a:latin typeface="Segoe UI"/>
              </a:defRPr>
            </a:pPr>
            <a:r>
              <a:t>Y văn điều trị đái tháo đường từ Cẩm nang chuyên môn Merck Manuals Professional Version.</a:t>
            </a:r>
          </a:p>
          <a:p>
            <a:pPr>
              <a:lnSpc>
                <a:spcPct val="115000"/>
              </a:lnSpc>
              <a:spcBef>
                <a:spcPts val="1400"/>
              </a:spcBef>
              <a:spcAft>
                <a:spcPts val="0"/>
              </a:spcAft>
              <a:defRPr sz="1400" b="1" i="0">
                <a:solidFill>
                  <a:srgbClr val="F43F5E"/>
                </a:solidFill>
                <a:latin typeface="Segoe UI"/>
              </a:defRPr>
            </a:pPr>
            <a:r>
              <a:t>Giới hạn thực nghiệm:</a:t>
            </a:r>
          </a:p>
          <a:p>
            <a:pPr>
              <a:lnSpc>
                <a:spcPct val="115000"/>
              </a:lnSpc>
              <a:spcBef>
                <a:spcPts val="600"/>
              </a:spcBef>
              <a:spcAft>
                <a:spcPts val="0"/>
              </a:spcAft>
              <a:defRPr sz="1400" b="0" i="0">
                <a:solidFill>
                  <a:srgbClr val="F8FAFC"/>
                </a:solidFill>
                <a:latin typeface="Segoe UI"/>
              </a:defRPr>
            </a:pPr>
            <a:r>
              <a:t>Giao diện CDSS và tính năng ngắt mạch tương tác thuốc chỉ phát triển ở quy mô demo thực nghiệm giả lập trong phòng Lab để chứng minh tính ứng dụng thực tế.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3. PHƯƠNG PHÁP NGHIÊN CỨU</a:t>
            </a:r>
          </a:p>
        </p:txBody>
      </p:sp>
      <p:sp>
        <p:nvSpPr>
          <p:cNvPr id="5" name="Rounded Rectangle 4"/>
          <p:cNvSpPr/>
          <p:nvPr/>
        </p:nvSpPr>
        <p:spPr>
          <a:xfrm>
            <a:off x="548640" y="1097280"/>
            <a:ext cx="347472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2651760" cy="4663440"/>
          </a:xfrm>
          <a:prstGeom prst="rect">
            <a:avLst/>
          </a:prstGeom>
          <a:noFill/>
        </p:spPr>
        <p:txBody>
          <a:bodyPr wrap="square">
            <a:spAutoFit/>
          </a:bodyPr>
          <a:lstStyle/>
          <a:p>
            <a:pPr>
              <a:spcAft>
                <a:spcPts val="800"/>
              </a:spcAft>
              <a:defRPr sz="1600" b="1">
                <a:solidFill>
                  <a:srgbClr val="06B6D4"/>
                </a:solidFill>
                <a:latin typeface="Segoe UI"/>
              </a:defRPr>
            </a:pPr>
            <a:r>
              <a:t>Nghiên cứu lý thuyết</a:t>
            </a:r>
          </a:p>
          <a:p>
            <a:pPr>
              <a:lnSpc>
                <a:spcPct val="115000"/>
              </a:lnSpc>
              <a:spcBef>
                <a:spcPts val="600"/>
              </a:spcBef>
              <a:spcAft>
                <a:spcPts val="0"/>
              </a:spcAft>
              <a:defRPr sz="1350" b="1" i="0">
                <a:solidFill>
                  <a:srgbClr val="06B6D4"/>
                </a:solidFill>
                <a:latin typeface="Segoe UI"/>
              </a:defRPr>
            </a:pPr>
            <a:r>
              <a:t>Thiết kế Graph Schema:</a:t>
            </a:r>
          </a:p>
          <a:p>
            <a:pPr>
              <a:lnSpc>
                <a:spcPct val="115000"/>
              </a:lnSpc>
              <a:spcBef>
                <a:spcPts val="600"/>
              </a:spcBef>
              <a:spcAft>
                <a:spcPts val="0"/>
              </a:spcAft>
              <a:defRPr sz="1350" b="0" i="0">
                <a:solidFill>
                  <a:srgbClr val="F8FAFC"/>
                </a:solidFill>
                <a:latin typeface="Segoe UI"/>
              </a:defRPr>
            </a:pPr>
            <a:r>
              <a:t>Khảo sát cẩm nang y khoa Merck Manuals &amp; siêu từ điển y học UMLS để lập lược đồ đồ thị chuẩn.</a:t>
            </a:r>
          </a:p>
          <a:p>
            <a:pPr>
              <a:lnSpc>
                <a:spcPct val="115000"/>
              </a:lnSpc>
              <a:spcBef>
                <a:spcPts val="1200"/>
              </a:spcBef>
              <a:spcAft>
                <a:spcPts val="0"/>
              </a:spcAft>
              <a:defRPr sz="1350" b="1" i="0">
                <a:solidFill>
                  <a:srgbClr val="06B6D4"/>
                </a:solidFill>
                <a:latin typeface="Segoe UI"/>
              </a:defRPr>
            </a:pPr>
            <a:r>
              <a:t>Công nghệ y khoa AI:</a:t>
            </a:r>
          </a:p>
          <a:p>
            <a:pPr>
              <a:lnSpc>
                <a:spcPct val="115000"/>
              </a:lnSpc>
              <a:spcBef>
                <a:spcPts val="600"/>
              </a:spcBef>
              <a:spcAft>
                <a:spcPts val="0"/>
              </a:spcAft>
              <a:defRPr sz="1350" b="0" i="0">
                <a:solidFill>
                  <a:srgbClr val="F8FAFC"/>
                </a:solidFill>
                <a:latin typeface="Segoe UI"/>
              </a:defRPr>
            </a:pPr>
            <a:r>
              <a:t>Nghiên cứu lý thuyết Đồ thị tri thức (KG), mô hình nhúng y sinh (BioBERT), kiến trúc GraphRAG và cơ chế đàm thoại phản biện đa tác nhân (Multi-Agent Debate).</a:t>
            </a:r>
          </a:p>
        </p:txBody>
      </p:sp>
      <p:sp>
        <p:nvSpPr>
          <p:cNvPr id="8" name="Rounded Rectangle 7"/>
          <p:cNvSpPr/>
          <p:nvPr/>
        </p:nvSpPr>
        <p:spPr>
          <a:xfrm>
            <a:off x="4297680" y="1097280"/>
            <a:ext cx="35661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8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4983480" y="1234440"/>
            <a:ext cx="2743200" cy="4663440"/>
          </a:xfrm>
          <a:prstGeom prst="rect">
            <a:avLst/>
          </a:prstGeom>
          <a:noFill/>
        </p:spPr>
        <p:txBody>
          <a:bodyPr wrap="square">
            <a:spAutoFit/>
          </a:bodyPr>
          <a:lstStyle/>
          <a:p>
            <a:pPr>
              <a:spcAft>
                <a:spcPts val="800"/>
              </a:spcAft>
              <a:defRPr sz="1600" b="1">
                <a:solidFill>
                  <a:srgbClr val="10B981"/>
                </a:solidFill>
                <a:latin typeface="Segoe UI"/>
              </a:defRPr>
            </a:pPr>
            <a:r>
              <a:t>Phương pháp thực nghiệm</a:t>
            </a:r>
          </a:p>
          <a:p>
            <a:pPr>
              <a:lnSpc>
                <a:spcPct val="115000"/>
              </a:lnSpc>
              <a:spcBef>
                <a:spcPts val="600"/>
              </a:spcBef>
              <a:spcAft>
                <a:spcPts val="0"/>
              </a:spcAft>
              <a:defRPr sz="1350" b="1" i="0">
                <a:solidFill>
                  <a:srgbClr val="10B981"/>
                </a:solidFill>
                <a:latin typeface="Segoe UI"/>
              </a:defRPr>
            </a:pPr>
            <a:r>
              <a:t>Tiền xử lý &amp; làm sạch:</a:t>
            </a:r>
          </a:p>
          <a:p>
            <a:pPr>
              <a:lnSpc>
                <a:spcPct val="115000"/>
              </a:lnSpc>
              <a:spcBef>
                <a:spcPts val="600"/>
              </a:spcBef>
              <a:spcAft>
                <a:spcPts val="0"/>
              </a:spcAft>
              <a:defRPr sz="1350" b="0" i="0">
                <a:solidFill>
                  <a:srgbClr val="F8FAFC"/>
                </a:solidFill>
                <a:latin typeface="Segoe UI"/>
              </a:defRPr>
            </a:pPr>
            <a:r>
              <a:t>Thu thập dữ liệu y văn Merck Manuals, tự động loại bỏ ký tự nhiễu; ứng dụng kỹ thuật đối khớp ngữ nghĩa để chuẩn hóa từ đồng nghĩa về mã UMLS CUI duy nhất.</a:t>
            </a:r>
          </a:p>
          <a:p>
            <a:pPr>
              <a:lnSpc>
                <a:spcPct val="115000"/>
              </a:lnSpc>
              <a:spcBef>
                <a:spcPts val="1200"/>
              </a:spcBef>
              <a:spcAft>
                <a:spcPts val="0"/>
              </a:spcAft>
              <a:defRPr sz="1350" b="1" i="0">
                <a:solidFill>
                  <a:srgbClr val="10B981"/>
                </a:solidFill>
                <a:latin typeface="Segoe UI"/>
              </a:defRPr>
            </a:pPr>
            <a:r>
              <a:t>Hiện thực hóa hệ thống:</a:t>
            </a:r>
          </a:p>
          <a:p>
            <a:pPr>
              <a:lnSpc>
                <a:spcPct val="115000"/>
              </a:lnSpc>
              <a:spcBef>
                <a:spcPts val="600"/>
              </a:spcBef>
              <a:spcAft>
                <a:spcPts val="0"/>
              </a:spcAft>
              <a:defRPr sz="1350" b="0" i="0">
                <a:solidFill>
                  <a:srgbClr val="F8FAFC"/>
                </a:solidFill>
                <a:latin typeface="Segoe UI"/>
              </a:defRPr>
            </a:pPr>
            <a:r>
              <a:t>Cài đặt pipeline trích xuất EDC; nạp CSDL đồ thị Neo4j bằng Cypher; xây dựng ứng dụng web CDSS (FastAPI kết hợp ReactJS).</a:t>
            </a:r>
          </a:p>
        </p:txBody>
      </p:sp>
      <p:sp>
        <p:nvSpPr>
          <p:cNvPr id="11" name="Rounded Rectangle 10"/>
          <p:cNvSpPr/>
          <p:nvPr/>
        </p:nvSpPr>
        <p:spPr>
          <a:xfrm>
            <a:off x="8138160" y="1097280"/>
            <a:ext cx="3474720" cy="4937760"/>
          </a:xfrm>
          <a:prstGeom prst="roundRect">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366760" y="1261872"/>
            <a:ext cx="411480" cy="411480"/>
          </a:xfrm>
          <a:prstGeom prst="ellipse">
            <a:avLst/>
          </a:prstGeom>
          <a:solidFill>
            <a:srgbClr val="141B2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3" name="TextBox 12"/>
          <p:cNvSpPr txBox="1"/>
          <p:nvPr/>
        </p:nvSpPr>
        <p:spPr>
          <a:xfrm>
            <a:off x="8823960" y="1234440"/>
            <a:ext cx="2651760" cy="4663440"/>
          </a:xfrm>
          <a:prstGeom prst="rect">
            <a:avLst/>
          </a:prstGeom>
          <a:noFill/>
        </p:spPr>
        <p:txBody>
          <a:bodyPr wrap="square">
            <a:spAutoFit/>
          </a:bodyPr>
          <a:lstStyle/>
          <a:p>
            <a:pPr>
              <a:spcAft>
                <a:spcPts val="800"/>
              </a:spcAft>
              <a:defRPr sz="1600" b="1">
                <a:solidFill>
                  <a:srgbClr val="F43F5E"/>
                </a:solidFill>
                <a:latin typeface="Segoe UI"/>
              </a:defRPr>
            </a:pPr>
            <a:r>
              <a:t>Đánh giá &amp; Kiểm chứng</a:t>
            </a:r>
          </a:p>
          <a:p>
            <a:pPr>
              <a:lnSpc>
                <a:spcPct val="115000"/>
              </a:lnSpc>
              <a:spcBef>
                <a:spcPts val="600"/>
              </a:spcBef>
              <a:spcAft>
                <a:spcPts val="0"/>
              </a:spcAft>
              <a:defRPr sz="1350" b="1" i="0">
                <a:solidFill>
                  <a:srgbClr val="F43F5E"/>
                </a:solidFill>
                <a:latin typeface="Segoe UI"/>
              </a:defRPr>
            </a:pPr>
            <a:r>
              <a:t>Thẩm định tự động:</a:t>
            </a:r>
          </a:p>
          <a:p>
            <a:pPr>
              <a:lnSpc>
                <a:spcPct val="115000"/>
              </a:lnSpc>
              <a:spcBef>
                <a:spcPts val="600"/>
              </a:spcBef>
              <a:spcAft>
                <a:spcPts val="0"/>
              </a:spcAft>
              <a:defRPr sz="1350" b="0" i="0">
                <a:solidFill>
                  <a:srgbClr val="F8FAFC"/>
                </a:solidFill>
                <a:latin typeface="Segoe UI"/>
              </a:defRPr>
            </a:pPr>
            <a:r>
              <a:t>Phát triển hệ thống Hội đồng đa tác nhân đồng cấp (P2P Debate Gate) tự đàm thoại và chốt điểm đồng thuận chéo.</a:t>
            </a:r>
          </a:p>
          <a:p>
            <a:pPr>
              <a:lnSpc>
                <a:spcPct val="115000"/>
              </a:lnSpc>
              <a:spcBef>
                <a:spcPts val="1200"/>
              </a:spcBef>
              <a:spcAft>
                <a:spcPts val="0"/>
              </a:spcAft>
              <a:defRPr sz="1350" b="1" i="0">
                <a:solidFill>
                  <a:srgbClr val="F43F5E"/>
                </a:solidFill>
                <a:latin typeface="Segoe UI"/>
              </a:defRPr>
            </a:pPr>
            <a:r>
              <a:t>Đo lường định lượng:</a:t>
            </a:r>
          </a:p>
          <a:p>
            <a:pPr>
              <a:lnSpc>
                <a:spcPct val="115000"/>
              </a:lnSpc>
              <a:spcBef>
                <a:spcPts val="600"/>
              </a:spcBef>
              <a:spcAft>
                <a:spcPts val="0"/>
              </a:spcAft>
              <a:defRPr sz="1350" b="0" i="0">
                <a:solidFill>
                  <a:srgbClr val="F8FAFC"/>
                </a:solidFill>
                <a:latin typeface="Segoe UI"/>
              </a:defRPr>
            </a:pPr>
            <a:r>
              <a:t>Tính toán Precision, Recall, F1-Score trên 3 cấp độ (Exact, Strict, Partial). Chạy thử nghiệm giả lập ca lâm sàng thực tế để kiểm định độ nhạy của bộ ngắt mạch Circuit Breaker.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4. NỘI DUNG 1 &amp; 2: LÝ THUYẾT + TIỀN XỬ LÝ DỮ LIỆU</a:t>
            </a:r>
          </a:p>
        </p:txBody>
      </p:sp>
      <p:sp>
        <p:nvSpPr>
          <p:cNvPr id="5" name="Rounded Rectangle 4"/>
          <p:cNvSpPr/>
          <p:nvPr/>
        </p:nvSpPr>
        <p:spPr>
          <a:xfrm>
            <a:off x="548640" y="1097280"/>
            <a:ext cx="5394960" cy="393192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3657600"/>
          </a:xfrm>
          <a:prstGeom prst="rect">
            <a:avLst/>
          </a:prstGeom>
          <a:noFill/>
        </p:spPr>
        <p:txBody>
          <a:bodyPr wrap="square">
            <a:spAutoFit/>
          </a:bodyPr>
          <a:lstStyle/>
          <a:p>
            <a:pPr>
              <a:spcAft>
                <a:spcPts val="800"/>
              </a:spcAft>
              <a:defRPr sz="1600" b="1">
                <a:solidFill>
                  <a:srgbClr val="06B6D4"/>
                </a:solidFill>
                <a:latin typeface="Segoe UI"/>
              </a:defRPr>
            </a:pPr>
            <a:r>
              <a:t>Nội dung 1: Khảo sát cơ sở lý thuyết</a:t>
            </a:r>
          </a:p>
          <a:p>
            <a:pPr>
              <a:lnSpc>
                <a:spcPct val="115000"/>
              </a:lnSpc>
              <a:spcBef>
                <a:spcPts val="600"/>
              </a:spcBef>
              <a:spcAft>
                <a:spcPts val="0"/>
              </a:spcAft>
              <a:defRPr sz="1400" b="1" i="0">
                <a:solidFill>
                  <a:srgbClr val="06B6D4"/>
                </a:solidFill>
                <a:latin typeface="Segoe UI"/>
              </a:defRPr>
            </a:pPr>
            <a:r>
              <a:t>Đồ thị tri thức (KG):</a:t>
            </a:r>
          </a:p>
          <a:p>
            <a:pPr>
              <a:lnSpc>
                <a:spcPct val="115000"/>
              </a:lnSpc>
              <a:spcBef>
                <a:spcPts val="600"/>
              </a:spcBef>
              <a:spcAft>
                <a:spcPts val="0"/>
              </a:spcAft>
              <a:defRPr sz="1400" b="0" i="0">
                <a:solidFill>
                  <a:srgbClr val="F8FAFC"/>
                </a:solidFill>
                <a:latin typeface="Segoe UI"/>
              </a:defRPr>
            </a:pPr>
            <a:r>
              <a:t>Tìm hiểu cấu trúc mạng lưới liên kết gồm Thực thể (Bệnh lý, Thuốc, Chỉ số eGFR), Mối quan hệ (Chống chỉ định, Điều trị) và các Thuộc tính ngữ cảnh lâm sàng.</a:t>
            </a:r>
          </a:p>
          <a:p>
            <a:pPr>
              <a:lnSpc>
                <a:spcPct val="115000"/>
              </a:lnSpc>
              <a:spcBef>
                <a:spcPts val="1200"/>
              </a:spcBef>
              <a:spcAft>
                <a:spcPts val="0"/>
              </a:spcAft>
              <a:defRPr sz="1400" b="1" i="0">
                <a:solidFill>
                  <a:srgbClr val="06B6D4"/>
                </a:solidFill>
                <a:latin typeface="Segoe UI"/>
              </a:defRPr>
            </a:pPr>
            <a:r>
              <a:t>Kiến trúc GraphRAG &amp; Multi-Agent:</a:t>
            </a:r>
          </a:p>
          <a:p>
            <a:pPr>
              <a:lnSpc>
                <a:spcPct val="115000"/>
              </a:lnSpc>
              <a:spcBef>
                <a:spcPts val="600"/>
              </a:spcBef>
              <a:spcAft>
                <a:spcPts val="0"/>
              </a:spcAft>
              <a:defRPr sz="1400" b="0" i="0">
                <a:solidFill>
                  <a:srgbClr val="F8FAFC"/>
                </a:solidFill>
                <a:latin typeface="Segoe UI"/>
              </a:defRPr>
            </a:pPr>
            <a:r>
              <a:t>Kết hợp CSDL đồ thị và LLM để giữ nguyên ngữ cảnh y văn; nghiên cứu cơ chế đàm thoại phản biện (Debate Paradigm) giữa các Agent để giảm thiểu tối đa hiện tượng ảo giác lâm sàng.</a:t>
            </a:r>
          </a:p>
        </p:txBody>
      </p:sp>
      <p:sp>
        <p:nvSpPr>
          <p:cNvPr id="8" name="Rounded Rectangle 7"/>
          <p:cNvSpPr/>
          <p:nvPr/>
        </p:nvSpPr>
        <p:spPr>
          <a:xfrm>
            <a:off x="6217920" y="1097280"/>
            <a:ext cx="5394960" cy="393192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3657600"/>
          </a:xfrm>
          <a:prstGeom prst="rect">
            <a:avLst/>
          </a:prstGeom>
          <a:noFill/>
        </p:spPr>
        <p:txBody>
          <a:bodyPr wrap="square">
            <a:spAutoFit/>
          </a:bodyPr>
          <a:lstStyle/>
          <a:p>
            <a:pPr>
              <a:spcAft>
                <a:spcPts val="800"/>
              </a:spcAft>
              <a:defRPr sz="1600" b="1">
                <a:solidFill>
                  <a:srgbClr val="10B981"/>
                </a:solidFill>
                <a:latin typeface="Segoe UI"/>
              </a:defRPr>
            </a:pPr>
            <a:r>
              <a:t>Nội dung 2: Tiền xử lý dữ liệu lâm sàng y văn</a:t>
            </a:r>
          </a:p>
          <a:p>
            <a:pPr>
              <a:lnSpc>
                <a:spcPct val="115000"/>
              </a:lnSpc>
              <a:spcBef>
                <a:spcPts val="600"/>
              </a:spcBef>
              <a:spcAft>
                <a:spcPts val="0"/>
              </a:spcAft>
              <a:defRPr sz="1400" b="1" i="0">
                <a:solidFill>
                  <a:srgbClr val="10B981"/>
                </a:solidFill>
                <a:latin typeface="Segoe UI"/>
              </a:defRPr>
            </a:pPr>
            <a:r>
              <a:t>Thu thập và phân đoạn văn bản:</a:t>
            </a:r>
          </a:p>
          <a:p>
            <a:pPr>
              <a:lnSpc>
                <a:spcPct val="115000"/>
              </a:lnSpc>
              <a:spcBef>
                <a:spcPts val="600"/>
              </a:spcBef>
              <a:spcAft>
                <a:spcPts val="0"/>
              </a:spcAft>
              <a:defRPr sz="1400" b="0" i="0">
                <a:solidFill>
                  <a:srgbClr val="F8FAFC"/>
                </a:solidFill>
                <a:latin typeface="Segoe UI"/>
              </a:defRPr>
            </a:pPr>
            <a:r>
              <a:t>Tập trung khai thác nguồn dữ liệu tri thức y khoa dạng văn xuôi (narrative prose) có cấu trúc ngữ nghĩa chặt chẽ từ Cẩm nang chuyên môn Merck Manuals chuyên mục Điều trị Đái tháo đường.</a:t>
            </a:r>
          </a:p>
          <a:p>
            <a:pPr>
              <a:lnSpc>
                <a:spcPct val="115000"/>
              </a:lnSpc>
              <a:spcBef>
                <a:spcPts val="1200"/>
              </a:spcBef>
              <a:spcAft>
                <a:spcPts val="0"/>
              </a:spcAft>
              <a:defRPr sz="1400" b="1" i="0">
                <a:solidFill>
                  <a:srgbClr val="10B981"/>
                </a:solidFill>
                <a:latin typeface="Segoe UI"/>
              </a:defRPr>
            </a:pPr>
            <a:r>
              <a:t>Làm sạch ký tự và chuẩn hóa dữ liệu:</a:t>
            </a:r>
          </a:p>
          <a:p>
            <a:pPr>
              <a:lnSpc>
                <a:spcPct val="115000"/>
              </a:lnSpc>
              <a:spcBef>
                <a:spcPts val="600"/>
              </a:spcBef>
              <a:spcAft>
                <a:spcPts val="0"/>
              </a:spcAft>
              <a:defRPr sz="1400" b="0" i="0">
                <a:solidFill>
                  <a:srgbClr val="F8FAFC"/>
                </a:solidFill>
                <a:latin typeface="Segoe UI"/>
              </a:defRPr>
            </a:pPr>
            <a:r>
              <a:t>Triển khai module tiền xử lý văn bản tự động loại bỏ thẻ HTML, ký hiệu thừa khi trích xuất web, tối ưu hóa cấu trúc văn bản lâm sàng sạch cho LLM.</a:t>
            </a:r>
          </a:p>
        </p:txBody>
      </p:sp>
      <p:sp>
        <p:nvSpPr>
          <p:cNvPr id="11" name="Rounded Rectangle 10"/>
          <p:cNvSpPr/>
          <p:nvPr/>
        </p:nvSpPr>
        <p:spPr>
          <a:xfrm>
            <a:off x="548640" y="5212080"/>
            <a:ext cx="11064240" cy="731520"/>
          </a:xfrm>
          <a:prstGeom prst="roundRect">
            <a:avLst/>
          </a:prstGeom>
          <a:solidFill>
            <a:srgbClr val="10262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349240"/>
            <a:ext cx="10744200" cy="457200"/>
          </a:xfrm>
          <a:prstGeom prst="rect">
            <a:avLst/>
          </a:prstGeom>
          <a:noFill/>
        </p:spPr>
        <p:txBody>
          <a:bodyPr wrap="square">
            <a:spAutoFit/>
          </a:bodyPr>
          <a:lstStyle/>
          <a:p>
            <a:pPr>
              <a:lnSpc>
                <a:spcPct val="115000"/>
              </a:lnSpc>
              <a:spcBef>
                <a:spcPts val="600"/>
              </a:spcBef>
              <a:spcAft>
                <a:spcPts val="0"/>
              </a:spcAft>
              <a:defRPr sz="1400" b="1" i="1">
                <a:solidFill>
                  <a:srgbClr val="10B981"/>
                </a:solidFill>
                <a:latin typeface="Segoe UI"/>
              </a:defRPr>
            </a:pPr>
            <a:r>
              <a:t>→  Ý nghĩa: Xây dựng dòng dữ liệu lâm sàng cực kỳ sạch sẽ, cấu trúc hóa cao, tạo tiền đề tối ưu cho việc trích xuất tri thức bằng mô hình ngôn ngữ lớn.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5. NỘI DUNG 3: TRÍCH XUẤT RÀNG BUỘC THEO EDC FRAMEWORK</a:t>
            </a:r>
          </a:p>
        </p:txBody>
      </p:sp>
      <p:sp>
        <p:nvSpPr>
          <p:cNvPr id="5" name="Rounded Rectangle 4"/>
          <p:cNvSpPr/>
          <p:nvPr/>
        </p:nvSpPr>
        <p:spPr>
          <a:xfrm>
            <a:off x="548640" y="1097280"/>
            <a:ext cx="667512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5852160" cy="4663440"/>
          </a:xfrm>
          <a:prstGeom prst="rect">
            <a:avLst/>
          </a:prstGeom>
          <a:noFill/>
        </p:spPr>
        <p:txBody>
          <a:bodyPr wrap="square">
            <a:spAutoFit/>
          </a:bodyPr>
          <a:lstStyle/>
          <a:p>
            <a:pPr>
              <a:spcAft>
                <a:spcPts val="800"/>
              </a:spcAft>
              <a:defRPr sz="1600" b="1">
                <a:solidFill>
                  <a:srgbClr val="06B6D4"/>
                </a:solidFill>
                <a:latin typeface="Segoe UI"/>
              </a:defRPr>
            </a:pPr>
            <a:r>
              <a:t>Framework trích xuất có ràng buộc EDC [5]</a:t>
            </a:r>
          </a:p>
          <a:p>
            <a:pPr>
              <a:lnSpc>
                <a:spcPct val="115000"/>
              </a:lnSpc>
              <a:spcBef>
                <a:spcPts val="400"/>
              </a:spcBef>
              <a:spcAft>
                <a:spcPts val="0"/>
              </a:spcAft>
              <a:defRPr sz="1350" b="1" i="0">
                <a:solidFill>
                  <a:srgbClr val="06B6D4"/>
                </a:solidFill>
                <a:latin typeface="Segoe UI"/>
              </a:defRPr>
            </a:pPr>
            <a:r>
              <a:t>Phase 1 - Extract (Clinical Open IE):</a:t>
            </a:r>
          </a:p>
          <a:p>
            <a:pPr>
              <a:lnSpc>
                <a:spcPct val="115000"/>
              </a:lnSpc>
              <a:spcBef>
                <a:spcPts val="600"/>
              </a:spcBef>
              <a:spcAft>
                <a:spcPts val="0"/>
              </a:spcAft>
              <a:defRPr sz="1350" b="0" i="0">
                <a:solidFill>
                  <a:srgbClr val="F8FAFC"/>
                </a:solidFill>
                <a:latin typeface="Segoe UI"/>
              </a:defRPr>
            </a:pPr>
            <a:r>
              <a:t>Sử dụng Few-shot Prompt tối ưu để LLM trích xuất mở các bộ ba thô dạng (Bệnh lý - treats/contraindicates - Dược chất) từ hồ sơ và phác đồ.</a:t>
            </a:r>
          </a:p>
          <a:p>
            <a:pPr>
              <a:lnSpc>
                <a:spcPct val="115000"/>
              </a:lnSpc>
              <a:spcBef>
                <a:spcPts val="1000"/>
              </a:spcBef>
              <a:spcAft>
                <a:spcPts val="0"/>
              </a:spcAft>
              <a:defRPr sz="1350" b="1" i="0">
                <a:solidFill>
                  <a:srgbClr val="06B6D4"/>
                </a:solidFill>
                <a:latin typeface="Segoe UI"/>
              </a:defRPr>
            </a:pPr>
            <a:r>
              <a:t>Phase 2 - Define (Semantic Definition):</a:t>
            </a:r>
          </a:p>
          <a:p>
            <a:pPr>
              <a:lnSpc>
                <a:spcPct val="115000"/>
              </a:lnSpc>
              <a:spcBef>
                <a:spcPts val="600"/>
              </a:spcBef>
              <a:spcAft>
                <a:spcPts val="0"/>
              </a:spcAft>
              <a:defRPr sz="1350" b="0" i="0">
                <a:solidFill>
                  <a:srgbClr val="F8FAFC"/>
                </a:solidFill>
                <a:latin typeface="Segoe UI"/>
              </a:defRPr>
            </a:pPr>
            <a:r>
              <a:t>Gọi LLM tự động viết định nghĩa rõ ràng cho từng thực thể và quan hệ dựa theo ngữ cảnh xuất hiện, giúp bảo toàn toàn vẹn ngữ nghĩa lâm sàng gốc.</a:t>
            </a:r>
          </a:p>
          <a:p>
            <a:pPr>
              <a:lnSpc>
                <a:spcPct val="115000"/>
              </a:lnSpc>
              <a:spcBef>
                <a:spcPts val="1000"/>
              </a:spcBef>
              <a:spcAft>
                <a:spcPts val="0"/>
              </a:spcAft>
              <a:defRPr sz="1350" b="1" i="0">
                <a:solidFill>
                  <a:srgbClr val="06B6D4"/>
                </a:solidFill>
                <a:latin typeface="Segoe UI"/>
              </a:defRPr>
            </a:pPr>
            <a:r>
              <a:t>Phase 3 - Canonicalize (Chuẩn hóa Lược đồ):</a:t>
            </a:r>
          </a:p>
          <a:p>
            <a:pPr>
              <a:lnSpc>
                <a:spcPct val="115000"/>
              </a:lnSpc>
              <a:spcBef>
                <a:spcPts val="600"/>
              </a:spcBef>
              <a:spcAft>
                <a:spcPts val="0"/>
              </a:spcAft>
              <a:defRPr sz="1350" b="0" i="0">
                <a:solidFill>
                  <a:srgbClr val="F8FAFC"/>
                </a:solidFill>
                <a:latin typeface="Segoe UI"/>
              </a:defRPr>
            </a:pPr>
            <a:r>
              <a:t>3a - Relation: Ánh xạ quan hệ thô về lược đồ chuẩn (diabetes_schema.csv) bằng Cosine Similarity.</a:t>
            </a:r>
            <a:br/>
            <a:r>
              <a:t>3b - Entity-Type: Ánh xạ kiểu thực thể về mã UMLS CUI chuẩn (CUI mapping).</a:t>
            </a:r>
          </a:p>
          <a:p>
            <a:pPr>
              <a:lnSpc>
                <a:spcPct val="115000"/>
              </a:lnSpc>
              <a:spcBef>
                <a:spcPts val="1000"/>
              </a:spcBef>
              <a:spcAft>
                <a:spcPts val="0"/>
              </a:spcAft>
              <a:defRPr sz="1350" b="1" i="0">
                <a:solidFill>
                  <a:srgbClr val="06B6D4"/>
                </a:solidFill>
                <a:latin typeface="Segoe UI"/>
              </a:defRPr>
            </a:pPr>
            <a:r>
              <a:t>Phase 4 - Property Packing (Đóng gói thuộc tính):</a:t>
            </a:r>
          </a:p>
          <a:p>
            <a:pPr>
              <a:lnSpc>
                <a:spcPct val="115000"/>
              </a:lnSpc>
              <a:spcBef>
                <a:spcPts val="600"/>
              </a:spcBef>
              <a:spcAft>
                <a:spcPts val="0"/>
              </a:spcAft>
              <a:defRPr sz="1350" b="0" i="0">
                <a:solidFill>
                  <a:srgbClr val="F8FAFC"/>
                </a:solidFill>
                <a:latin typeface="Segoe UI"/>
              </a:defRPr>
            </a:pPr>
            <a:r>
              <a:t>Module PropertyPacker truy vấn ngoại tuyến gán mã chuẩn y khoa RxNorm (thuốc), ICD-10 (bệnh lý), khử trùng lặp và đóng gói thành tệp JSON đồ thị chuẩn.</a:t>
            </a:r>
          </a:p>
        </p:txBody>
      </p:sp>
      <p:pic>
        <p:nvPicPr>
          <p:cNvPr id="8" name="Picture 7" descr="edc_pipeline_actual_flow.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6. NỘI DUNG 4: THẨM ĐỊNH QUA HỘI ĐỒNG ĐA TÁC NHÂN (P2P DEBATE GATE)</a:t>
            </a:r>
          </a:p>
        </p:txBody>
      </p:sp>
      <p:sp>
        <p:nvSpPr>
          <p:cNvPr id="5" name="Rounded Rectangle 4"/>
          <p:cNvSpPr/>
          <p:nvPr/>
        </p:nvSpPr>
        <p:spPr>
          <a:xfrm>
            <a:off x="548640" y="1097280"/>
            <a:ext cx="667512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5852160" cy="4663440"/>
          </a:xfrm>
          <a:prstGeom prst="rect">
            <a:avLst/>
          </a:prstGeom>
          <a:noFill/>
        </p:spPr>
        <p:txBody>
          <a:bodyPr wrap="square">
            <a:spAutoFit/>
          </a:bodyPr>
          <a:lstStyle/>
          <a:p>
            <a:pPr>
              <a:spcAft>
                <a:spcPts val="800"/>
              </a:spcAft>
              <a:defRPr sz="1600" b="1">
                <a:solidFill>
                  <a:srgbClr val="10B981"/>
                </a:solidFill>
                <a:latin typeface="Segoe UI"/>
              </a:defRPr>
            </a:pPr>
            <a:r>
              <a:t>Kiến trúc hội đồng phản biện y khoa đa tác nhân [7][8]</a:t>
            </a:r>
          </a:p>
          <a:p>
            <a:pPr>
              <a:lnSpc>
                <a:spcPct val="115000"/>
              </a:lnSpc>
              <a:spcBef>
                <a:spcPts val="400"/>
              </a:spcBef>
              <a:spcAft>
                <a:spcPts val="0"/>
              </a:spcAft>
              <a:defRPr sz="1350" b="1" i="0">
                <a:solidFill>
                  <a:srgbClr val="10B981"/>
                </a:solidFill>
                <a:latin typeface="Segoe UI"/>
              </a:defRPr>
            </a:pPr>
            <a:r>
              <a:t>1. Clinical Specialist Agent (Llama-3.3-70B - Trọng số 0.4):</a:t>
            </a:r>
          </a:p>
          <a:p>
            <a:pPr>
              <a:lnSpc>
                <a:spcPct val="115000"/>
              </a:lnSpc>
              <a:spcBef>
                <a:spcPts val="600"/>
              </a:spcBef>
              <a:spcAft>
                <a:spcPts val="0"/>
              </a:spcAft>
              <a:defRPr sz="1350" b="0" i="0">
                <a:solidFill>
                  <a:srgbClr val="F8FAFC"/>
                </a:solidFill>
                <a:latin typeface="Segoe UI"/>
              </a:defRPr>
            </a:pPr>
            <a:r>
              <a:t>Đánh giá tính chính xác sinh y học, an toàn lâm sàng, đối chiếu Cẩm nang điều trị đái tháo đường Merck Manuals.</a:t>
            </a:r>
          </a:p>
          <a:p>
            <a:pPr>
              <a:lnSpc>
                <a:spcPct val="115000"/>
              </a:lnSpc>
              <a:spcBef>
                <a:spcPts val="1000"/>
              </a:spcBef>
              <a:spcAft>
                <a:spcPts val="0"/>
              </a:spcAft>
              <a:defRPr sz="1350" b="1" i="0">
                <a:solidFill>
                  <a:srgbClr val="10B981"/>
                </a:solidFill>
                <a:latin typeface="Segoe UI"/>
              </a:defRPr>
            </a:pPr>
            <a:r>
              <a:t>2. Ontology Inspector Agent (Llama-3.1-8B - Trọng số 0.3):</a:t>
            </a:r>
          </a:p>
          <a:p>
            <a:pPr>
              <a:lnSpc>
                <a:spcPct val="115000"/>
              </a:lnSpc>
              <a:spcBef>
                <a:spcPts val="600"/>
              </a:spcBef>
              <a:spcAft>
                <a:spcPts val="0"/>
              </a:spcAft>
              <a:defRPr sz="1350" b="0" i="0">
                <a:solidFill>
                  <a:srgbClr val="F8FAFC"/>
                </a:solidFill>
                <a:latin typeface="Segoe UI"/>
              </a:defRPr>
            </a:pPr>
            <a:r>
              <a:t>Kiểm tra tính tuân thủ nghiêm ngặt của các bộ ba tri thức với lược đồ Domain/Range định sẵn trong diabetes_schema.csv.</a:t>
            </a:r>
          </a:p>
          <a:p>
            <a:pPr>
              <a:lnSpc>
                <a:spcPct val="115000"/>
              </a:lnSpc>
              <a:spcBef>
                <a:spcPts val="1000"/>
              </a:spcBef>
              <a:spcAft>
                <a:spcPts val="0"/>
              </a:spcAft>
              <a:defRPr sz="1350" b="1" i="0">
                <a:solidFill>
                  <a:srgbClr val="10B981"/>
                </a:solidFill>
                <a:latin typeface="Segoe UI"/>
              </a:defRPr>
            </a:pPr>
            <a:r>
              <a:t>3. Medical Skeptic Agent (Gemma-2-9B - Trọng số 0.3):</a:t>
            </a:r>
          </a:p>
          <a:p>
            <a:pPr>
              <a:lnSpc>
                <a:spcPct val="115000"/>
              </a:lnSpc>
              <a:spcBef>
                <a:spcPts val="600"/>
              </a:spcBef>
              <a:spcAft>
                <a:spcPts val="0"/>
              </a:spcAft>
              <a:defRPr sz="1350" b="0" i="0">
                <a:solidFill>
                  <a:srgbClr val="F8FAFC"/>
                </a:solidFill>
                <a:latin typeface="Segoe UI"/>
              </a:defRPr>
            </a:pPr>
            <a:r>
              <a:t>Đóng vai trò phản biện độc lập, tìm kiếm lỗi ngôn ngữ NLP, triệt tiêu ảo giác tri thức và các thực thể nhiễu.</a:t>
            </a:r>
          </a:p>
          <a:p>
            <a:pPr>
              <a:lnSpc>
                <a:spcPct val="115000"/>
              </a:lnSpc>
              <a:spcBef>
                <a:spcPts val="1400"/>
              </a:spcBef>
              <a:spcAft>
                <a:spcPts val="0"/>
              </a:spcAft>
              <a:defRPr sz="1350" b="1" i="0">
                <a:solidFill>
                  <a:srgbClr val="F43F5E"/>
                </a:solidFill>
                <a:latin typeface="Segoe UI"/>
              </a:defRPr>
            </a:pPr>
            <a:r>
              <a:t>Cơ chế Điểm đồng thuận (FCS) &amp; Luật Phủ quyết (Veto Rule):</a:t>
            </a:r>
          </a:p>
          <a:p>
            <a:pPr>
              <a:lnSpc>
                <a:spcPct val="115000"/>
              </a:lnSpc>
              <a:spcBef>
                <a:spcPts val="600"/>
              </a:spcBef>
              <a:spcAft>
                <a:spcPts val="0"/>
              </a:spcAft>
              <a:defRPr sz="1350" b="0" i="0">
                <a:solidFill>
                  <a:srgbClr val="F8FAFC"/>
                </a:solidFill>
                <a:latin typeface="Segoe UI"/>
              </a:defRPr>
            </a:pPr>
            <a:r>
              <a:t>Điểm đồng thuận FCS = 0.4×CS + 0.3×OI + 0.3×MS. Triplet được lưu vào Neo4j nếu FCS ≥ 80/100.</a:t>
            </a:r>
            <a:br/>
            <a:br/>
            <a:r>
              <a:t>Luật Phủ quyết: Bất kỳ Agent nào đưa ra kết luận bác bỏ [INCORRECT] với độ tin cậy &gt; 70% sẽ lập tức loại bỏ triplet khỏi luồng đóng gói.</a:t>
            </a:r>
          </a:p>
        </p:txBody>
      </p:sp>
      <p:pic>
        <p:nvPicPr>
          <p:cNvPr id="8" name="Picture 7" descr="multiagent_debate_framework.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7. NỘI DUNG 5: ỨNG DỤNG CDSS &amp; CIRCUIT BREAKER (THỰC NGHIỆM)</a:t>
            </a:r>
          </a:p>
        </p:txBody>
      </p:sp>
      <p:sp>
        <p:nvSpPr>
          <p:cNvPr id="5" name="Rounded Rectangle 4"/>
          <p:cNvSpPr/>
          <p:nvPr/>
        </p:nvSpPr>
        <p:spPr>
          <a:xfrm>
            <a:off x="548640" y="1097280"/>
            <a:ext cx="667512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5852160" cy="4663440"/>
          </a:xfrm>
          <a:prstGeom prst="rect">
            <a:avLst/>
          </a:prstGeom>
          <a:noFill/>
        </p:spPr>
        <p:txBody>
          <a:bodyPr wrap="square">
            <a:spAutoFit/>
          </a:bodyPr>
          <a:lstStyle/>
          <a:p>
            <a:pPr>
              <a:spcAft>
                <a:spcPts val="800"/>
              </a:spcAft>
              <a:defRPr sz="1600" b="1">
                <a:solidFill>
                  <a:srgbClr val="06B6D4"/>
                </a:solidFill>
                <a:latin typeface="Segoe UI"/>
              </a:defRPr>
            </a:pPr>
            <a:r>
              <a:t>Mô hình CDSS thực nghiệm dựa trên Neo4j GraphRAG</a:t>
            </a:r>
          </a:p>
          <a:p>
            <a:pPr>
              <a:lnSpc>
                <a:spcPct val="115000"/>
              </a:lnSpc>
              <a:spcBef>
                <a:spcPts val="400"/>
              </a:spcBef>
              <a:spcAft>
                <a:spcPts val="0"/>
              </a:spcAft>
              <a:defRPr sz="1350" b="1" i="0">
                <a:solidFill>
                  <a:srgbClr val="06B6D4"/>
                </a:solidFill>
                <a:latin typeface="Segoe UI"/>
              </a:defRPr>
            </a:pPr>
            <a:r>
              <a:t>Backend API y khoa điều phối song song (FastAPI):</a:t>
            </a:r>
          </a:p>
          <a:p>
            <a:pPr>
              <a:lnSpc>
                <a:spcPct val="115000"/>
              </a:lnSpc>
              <a:spcBef>
                <a:spcPts val="600"/>
              </a:spcBef>
              <a:spcAft>
                <a:spcPts val="0"/>
              </a:spcAft>
              <a:defRPr sz="1350" b="0" i="0">
                <a:solidFill>
                  <a:srgbClr val="F8FAFC"/>
                </a:solidFill>
                <a:latin typeface="Segoe UI"/>
              </a:defRPr>
            </a:pPr>
            <a:r>
              <a:t>Đồng thời thực hiện Vector Search y văn và truy vấn cấu trúc đồ thị Neo4j bằng ngôn ngữ Cypher, đảm bảo tính nhất quán của tri thức lâm sàng.</a:t>
            </a:r>
          </a:p>
          <a:p>
            <a:pPr>
              <a:lnSpc>
                <a:spcPct val="115000"/>
              </a:lnSpc>
              <a:spcBef>
                <a:spcPts val="1000"/>
              </a:spcBef>
              <a:spcAft>
                <a:spcPts val="0"/>
              </a:spcAft>
              <a:defRPr sz="1350" b="1" i="0">
                <a:solidFill>
                  <a:srgbClr val="06B6D4"/>
                </a:solidFill>
                <a:latin typeface="Segoe UI"/>
              </a:defRPr>
            </a:pPr>
            <a:r>
              <a:t>Động cơ GraphRAG hỗ trợ chẩn đoán:</a:t>
            </a:r>
          </a:p>
          <a:p>
            <a:pPr>
              <a:lnSpc>
                <a:spcPct val="115000"/>
              </a:lnSpc>
              <a:spcBef>
                <a:spcPts val="600"/>
              </a:spcBef>
              <a:spcAft>
                <a:spcPts val="0"/>
              </a:spcAft>
              <a:defRPr sz="1350" b="0" i="0">
                <a:solidFill>
                  <a:srgbClr val="F8FAFC"/>
                </a:solidFill>
                <a:latin typeface="Segoe UI"/>
              </a:defRPr>
            </a:pPr>
            <a:r>
              <a:t>Bóc tách các tuyến tri thức liên kết (Knowledge Paths) từ Neo4j nạp vào prompt để LLM sinh chẩn đoán chính xác nhất.</a:t>
            </a:r>
          </a:p>
          <a:p>
            <a:pPr>
              <a:lnSpc>
                <a:spcPct val="115000"/>
              </a:lnSpc>
              <a:spcBef>
                <a:spcPts val="1000"/>
              </a:spcBef>
              <a:spcAft>
                <a:spcPts val="0"/>
              </a:spcAft>
              <a:defRPr sz="1350" b="1" i="0">
                <a:solidFill>
                  <a:srgbClr val="F43F5E"/>
                </a:solidFill>
                <a:latin typeface="Segoe UI"/>
              </a:defRPr>
            </a:pPr>
            <a:r>
              <a:t>Ngắt mạch an toàn lâm sàng (Clinical Circuit Breaker):</a:t>
            </a:r>
          </a:p>
          <a:p>
            <a:pPr>
              <a:lnSpc>
                <a:spcPct val="115000"/>
              </a:lnSpc>
              <a:spcBef>
                <a:spcPts val="600"/>
              </a:spcBef>
              <a:spcAft>
                <a:spcPts val="0"/>
              </a:spcAft>
              <a:defRPr sz="1350" b="0" i="0">
                <a:solidFill>
                  <a:srgbClr val="F8FAFC"/>
                </a:solidFill>
                <a:latin typeface="Segoe UI"/>
              </a:defRPr>
            </a:pPr>
            <a:r>
              <a:t>Module tự động quét bệnh án, đối chiếu chống chỉ định và tương tác thuốc trong thời gian thực. Phát hiện rủi ro lập tức ngắt hành động, hiển thị Cảnh báo đỏ y khoa (Red Alert).</a:t>
            </a:r>
          </a:p>
          <a:p>
            <a:pPr>
              <a:lnSpc>
                <a:spcPct val="115000"/>
              </a:lnSpc>
              <a:spcBef>
                <a:spcPts val="1000"/>
              </a:spcBef>
              <a:spcAft>
                <a:spcPts val="0"/>
              </a:spcAft>
              <a:defRPr sz="1350" b="1" i="0">
                <a:solidFill>
                  <a:srgbClr val="06B6D4"/>
                </a:solidFill>
                <a:latin typeface="Segoe UI"/>
              </a:defRPr>
            </a:pPr>
            <a:r>
              <a:t>Giao diện Web tương tác (ReactJS):</a:t>
            </a:r>
          </a:p>
          <a:p>
            <a:pPr>
              <a:lnSpc>
                <a:spcPct val="115000"/>
              </a:lnSpc>
              <a:spcBef>
                <a:spcPts val="600"/>
              </a:spcBef>
              <a:spcAft>
                <a:spcPts val="0"/>
              </a:spcAft>
              <a:defRPr sz="1350" b="0" i="0">
                <a:solidFill>
                  <a:srgbClr val="F8FAFC"/>
                </a:solidFill>
                <a:latin typeface="Segoe UI"/>
              </a:defRPr>
            </a:pPr>
            <a:r>
              <a:t>Tích hợp màn hình chat y khoa, bản đồ trực quan hóa đồ thị Neo4j, bảng thông số lâm sàng bệnh nhân EHR và ô cảnh báo ngắt mạch.</a:t>
            </a:r>
          </a:p>
        </p:txBody>
      </p:sp>
      <p:pic>
        <p:nvPicPr>
          <p:cNvPr id="8" name="Picture 7" descr="e2e_kg_pipeline.png"/>
          <p:cNvPicPr>
            <a:picLocks noChangeAspect="1"/>
          </p:cNvPicPr>
          <p:nvPr/>
        </p:nvPicPr>
        <p:blipFill>
          <a:blip r:embed="rId2"/>
          <a:stretch>
            <a:fillRect/>
          </a:stretch>
        </p:blipFill>
        <p:spPr>
          <a:xfrm>
            <a:off x="7406640" y="1097280"/>
            <a:ext cx="4206240" cy="4937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8. PHÂN CÔNG NHIỆM VỤ &amp; TIẾN ĐỘ THỰC HIỆN</a:t>
            </a:r>
          </a:p>
        </p:txBody>
      </p:sp>
      <p:sp>
        <p:nvSpPr>
          <p:cNvPr id="5" name="Rounded Rectangle 4"/>
          <p:cNvSpPr/>
          <p:nvPr/>
        </p:nvSpPr>
        <p:spPr>
          <a:xfrm>
            <a:off x="548640" y="1097280"/>
            <a:ext cx="53949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4663440"/>
          </a:xfrm>
          <a:prstGeom prst="rect">
            <a:avLst/>
          </a:prstGeom>
          <a:noFill/>
        </p:spPr>
        <p:txBody>
          <a:bodyPr wrap="square">
            <a:spAutoFit/>
          </a:bodyPr>
          <a:lstStyle/>
          <a:p>
            <a:pPr>
              <a:spcAft>
                <a:spcPts val="800"/>
              </a:spcAft>
              <a:defRPr sz="1600" b="1">
                <a:solidFill>
                  <a:srgbClr val="10B981"/>
                </a:solidFill>
                <a:latin typeface="Segoe UI"/>
              </a:defRPr>
            </a:pPr>
            <a:r>
              <a:t>Phân công nhiệm vụ thành viên</a:t>
            </a:r>
          </a:p>
          <a:p>
            <a:pPr>
              <a:lnSpc>
                <a:spcPct val="115000"/>
              </a:lnSpc>
              <a:spcBef>
                <a:spcPts val="400"/>
              </a:spcBef>
              <a:spcAft>
                <a:spcPts val="0"/>
              </a:spcAft>
              <a:defRPr sz="1350" b="1" i="0">
                <a:solidFill>
                  <a:srgbClr val="10B981"/>
                </a:solidFill>
                <a:latin typeface="Segoe UI"/>
              </a:defRPr>
            </a:pPr>
            <a:r>
              <a:t>Lê Quang Huy (Chủ nhiệm đề tài):</a:t>
            </a:r>
          </a:p>
          <a:p>
            <a:pPr>
              <a:lnSpc>
                <a:spcPct val="115000"/>
              </a:lnSpc>
              <a:spcBef>
                <a:spcPts val="400"/>
              </a:spcBef>
              <a:spcAft>
                <a:spcPts val="0"/>
              </a:spcAft>
              <a:defRPr sz="1350" b="0" i="0">
                <a:solidFill>
                  <a:srgbClr val="F8FAFC"/>
                </a:solidFill>
                <a:latin typeface="Segoe UI"/>
              </a:defRPr>
            </a:pPr>
            <a:r>
              <a:t>Thiết kế tổng thể thuật toán EDC, GraphRAG; quản lý tích hợp; định hướng khoa học và viết báo cáo thuyết minh.</a:t>
            </a:r>
          </a:p>
          <a:p>
            <a:pPr>
              <a:lnSpc>
                <a:spcPct val="115000"/>
              </a:lnSpc>
              <a:spcBef>
                <a:spcPts val="1000"/>
              </a:spcBef>
              <a:spcAft>
                <a:spcPts val="0"/>
              </a:spcAft>
              <a:defRPr sz="1350" b="1" i="0">
                <a:solidFill>
                  <a:srgbClr val="06B6D4"/>
                </a:solidFill>
                <a:latin typeface="Segoe UI"/>
              </a:defRPr>
            </a:pPr>
            <a:r>
              <a:t>Lưu An Thuận (Thư ký):</a:t>
            </a:r>
          </a:p>
          <a:p>
            <a:pPr>
              <a:lnSpc>
                <a:spcPct val="115000"/>
              </a:lnSpc>
              <a:spcBef>
                <a:spcPts val="400"/>
              </a:spcBef>
              <a:spcAft>
                <a:spcPts val="0"/>
              </a:spcAft>
              <a:defRPr sz="1350" b="0" i="0">
                <a:solidFill>
                  <a:srgbClr val="F8FAFC"/>
                </a:solidFill>
                <a:latin typeface="Segoe UI"/>
              </a:defRPr>
            </a:pPr>
            <a:r>
              <a:t>Khai thác tài liệu Merck Manuals; tiền xử lý làm sạch y văn; thiết lập và quản trị cơ sở dữ liệu Neo4j.</a:t>
            </a:r>
          </a:p>
          <a:p>
            <a:pPr>
              <a:lnSpc>
                <a:spcPct val="115000"/>
              </a:lnSpc>
              <a:spcBef>
                <a:spcPts val="1000"/>
              </a:spcBef>
              <a:spcAft>
                <a:spcPts val="0"/>
              </a:spcAft>
              <a:defRPr sz="1350" b="1" i="0">
                <a:solidFill>
                  <a:srgbClr val="06B6D4"/>
                </a:solidFill>
                <a:latin typeface="Segoe UI"/>
              </a:defRPr>
            </a:pPr>
            <a:r>
              <a:t>Lưu Vỹ Thuận (Thành viên):</a:t>
            </a:r>
          </a:p>
          <a:p>
            <a:pPr>
              <a:lnSpc>
                <a:spcPct val="115000"/>
              </a:lnSpc>
              <a:spcBef>
                <a:spcPts val="400"/>
              </a:spcBef>
              <a:spcAft>
                <a:spcPts val="0"/>
              </a:spcAft>
              <a:defRPr sz="1350" b="0" i="0">
                <a:solidFill>
                  <a:srgbClr val="F8FAFC"/>
                </a:solidFill>
                <a:latin typeface="Segoe UI"/>
              </a:defRPr>
            </a:pPr>
            <a:r>
              <a:t>Thiết kế Prompt LLM; xây dựng module định nghĩa NLG; lập trình tích hợp Circuit Breaker lên web demo.</a:t>
            </a:r>
          </a:p>
          <a:p>
            <a:pPr>
              <a:lnSpc>
                <a:spcPct val="115000"/>
              </a:lnSpc>
              <a:spcBef>
                <a:spcPts val="1000"/>
              </a:spcBef>
              <a:spcAft>
                <a:spcPts val="0"/>
              </a:spcAft>
              <a:defRPr sz="1350" b="1" i="0">
                <a:solidFill>
                  <a:srgbClr val="06B6D4"/>
                </a:solidFill>
                <a:latin typeface="Segoe UI"/>
              </a:defRPr>
            </a:pPr>
            <a:r>
              <a:t>Nguyễn Văn Hồ (Thành viên):</a:t>
            </a:r>
          </a:p>
          <a:p>
            <a:pPr>
              <a:lnSpc>
                <a:spcPct val="115000"/>
              </a:lnSpc>
              <a:spcBef>
                <a:spcPts val="400"/>
              </a:spcBef>
              <a:spcAft>
                <a:spcPts val="0"/>
              </a:spcAft>
              <a:defRPr sz="1350" b="0" i="0">
                <a:solidFill>
                  <a:srgbClr val="F8FAFC"/>
                </a:solidFill>
                <a:latin typeface="Segoe UI"/>
              </a:defRPr>
            </a:pPr>
            <a:r>
              <a:t>Xây dựng hệ thống thẩm định đa tác nhân (Agent Debate); viết module đo lường Precision, Recall, F1-Score.</a:t>
            </a:r>
          </a:p>
        </p:txBody>
      </p:sp>
      <p:sp>
        <p:nvSpPr>
          <p:cNvPr id="8" name="Rounded Rectangle 7"/>
          <p:cNvSpPr/>
          <p:nvPr/>
        </p:nvSpPr>
        <p:spPr>
          <a:xfrm>
            <a:off x="6217920" y="1097280"/>
            <a:ext cx="539496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4663440"/>
          </a:xfrm>
          <a:prstGeom prst="rect">
            <a:avLst/>
          </a:prstGeom>
          <a:noFill/>
        </p:spPr>
        <p:txBody>
          <a:bodyPr wrap="square">
            <a:spAutoFit/>
          </a:bodyPr>
          <a:lstStyle/>
          <a:p>
            <a:pPr>
              <a:spcAft>
                <a:spcPts val="800"/>
              </a:spcAft>
              <a:defRPr sz="1600" b="1">
                <a:solidFill>
                  <a:srgbClr val="06B6D4"/>
                </a:solidFill>
                <a:latin typeface="Segoe UI"/>
              </a:defRPr>
            </a:pPr>
            <a:r>
              <a:t>Tiến độ thực hiện đề tài (6 tháng)</a:t>
            </a:r>
          </a:p>
          <a:p>
            <a:pPr>
              <a:lnSpc>
                <a:spcPct val="115000"/>
              </a:lnSpc>
              <a:spcBef>
                <a:spcPts val="400"/>
              </a:spcBef>
              <a:spcAft>
                <a:spcPts val="0"/>
              </a:spcAft>
              <a:defRPr sz="1350" b="1" i="0">
                <a:solidFill>
                  <a:srgbClr val="06B6D4"/>
                </a:solidFill>
                <a:latin typeface="Segoe UI"/>
              </a:defRPr>
            </a:pPr>
            <a:r>
              <a:t>Tháng 04/2026:</a:t>
            </a:r>
          </a:p>
          <a:p>
            <a:pPr>
              <a:lnSpc>
                <a:spcPct val="115000"/>
              </a:lnSpc>
              <a:spcBef>
                <a:spcPts val="400"/>
              </a:spcBef>
              <a:spcAft>
                <a:spcPts val="0"/>
              </a:spcAft>
              <a:defRPr sz="1350" b="0" i="0">
                <a:solidFill>
                  <a:srgbClr val="F8FAFC"/>
                </a:solidFill>
                <a:latin typeface="Segoe UI"/>
              </a:defRPr>
            </a:pPr>
            <a:r>
              <a:t>Thu thập và phân đoạn y văn Merck Manuals.</a:t>
            </a:r>
            <a:br/>
            <a:r>
              <a:t>Thiết lập quy trình tự động làm sạch ký tự y khoa nhiễu.</a:t>
            </a:r>
            <a:br/>
            <a:r>
              <a:t>Định nghĩa và thiết kế Graph Schema chuẩn hóa.</a:t>
            </a:r>
          </a:p>
          <a:p>
            <a:pPr>
              <a:lnSpc>
                <a:spcPct val="115000"/>
              </a:lnSpc>
              <a:spcBef>
                <a:spcPts val="1400"/>
              </a:spcBef>
              <a:spcAft>
                <a:spcPts val="0"/>
              </a:spcAft>
              <a:defRPr sz="1350" b="1" i="0">
                <a:solidFill>
                  <a:srgbClr val="06B6D4"/>
                </a:solidFill>
                <a:latin typeface="Segoe UI"/>
              </a:defRPr>
            </a:pPr>
            <a:r>
              <a:t>Tháng 05/2026:</a:t>
            </a:r>
          </a:p>
          <a:p>
            <a:pPr>
              <a:lnSpc>
                <a:spcPct val="115000"/>
              </a:lnSpc>
              <a:spcBef>
                <a:spcPts val="400"/>
              </a:spcBef>
              <a:spcAft>
                <a:spcPts val="0"/>
              </a:spcAft>
              <a:defRPr sz="1350" b="0" i="0">
                <a:solidFill>
                  <a:srgbClr val="F8FAFC"/>
                </a:solidFill>
                <a:latin typeface="Segoe UI"/>
              </a:defRPr>
            </a:pPr>
            <a:r>
              <a:t>Cài đặt quy trình trích xuất ràng buộc EDC.</a:t>
            </a:r>
            <a:br/>
            <a:r>
              <a:t>Xây dựng Hội đồng đa tác nhân thẩm định đồng thuận P2P.</a:t>
            </a:r>
            <a:br/>
            <a:r>
              <a:t>Thiết lập CSDL Neo4j và import dữ liệu chuẩn hóa.</a:t>
            </a:r>
          </a:p>
          <a:p>
            <a:pPr>
              <a:lnSpc>
                <a:spcPct val="115000"/>
              </a:lnSpc>
              <a:spcBef>
                <a:spcPts val="1400"/>
              </a:spcBef>
              <a:spcAft>
                <a:spcPts val="0"/>
              </a:spcAft>
              <a:defRPr sz="1350" b="1" i="0">
                <a:solidFill>
                  <a:srgbClr val="06B6D4"/>
                </a:solidFill>
                <a:latin typeface="Segoe UI"/>
              </a:defRPr>
            </a:pPr>
            <a:r>
              <a:t>Tháng 06/2026:</a:t>
            </a:r>
          </a:p>
          <a:p>
            <a:pPr>
              <a:lnSpc>
                <a:spcPct val="115000"/>
              </a:lnSpc>
              <a:spcBef>
                <a:spcPts val="400"/>
              </a:spcBef>
              <a:spcAft>
                <a:spcPts val="0"/>
              </a:spcAft>
              <a:defRPr sz="1350" b="0" i="0">
                <a:solidFill>
                  <a:srgbClr val="F8FAFC"/>
                </a:solidFill>
                <a:latin typeface="Segoe UI"/>
              </a:defRPr>
            </a:pPr>
            <a:r>
              <a:t>Phát triển backend FastAPI, GraphRAG và Circuit Breaker.</a:t>
            </a:r>
            <a:br/>
            <a:r>
              <a:t>Xây dựng giao diện web ReactJS tương tác đồ thị.</a:t>
            </a:r>
            <a:br/>
            <a:r>
              <a:t>Kiểm thử F1-Score hệ thống; viết báo cáo nghiệm thu.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Đề tài KHCN cấp Cơ sở  |  Ứng dụng LLM xây dựng Đồ thị Tri thức hỗ trợ chẩn đoán bệnh Tiểu đường  |  Trường Đại học Nam Cần Thơ</a:t>
            </a:r>
          </a:p>
        </p:txBody>
      </p:sp>
      <p:sp>
        <p:nvSpPr>
          <p:cNvPr id="4" name="TextBox 3"/>
          <p:cNvSpPr txBox="1"/>
          <p:nvPr/>
        </p:nvSpPr>
        <p:spPr>
          <a:xfrm>
            <a:off x="731520" y="320040"/>
            <a:ext cx="10698480" cy="822960"/>
          </a:xfrm>
          <a:prstGeom prst="rect">
            <a:avLst/>
          </a:prstGeom>
          <a:noFill/>
        </p:spPr>
        <p:txBody>
          <a:bodyPr wrap="square">
            <a:spAutoFit/>
          </a:bodyPr>
          <a:lstStyle/>
          <a:p>
            <a:pPr>
              <a:defRPr sz="2600" b="1">
                <a:solidFill>
                  <a:srgbClr val="F8FAFC"/>
                </a:solidFill>
                <a:latin typeface="Segoe UI"/>
              </a:defRPr>
            </a:pPr>
            <a:r>
              <a:t>9. TÀI LIỆU THAM KHẢO</a:t>
            </a:r>
          </a:p>
        </p:txBody>
      </p:sp>
      <p:sp>
        <p:nvSpPr>
          <p:cNvPr id="5" name="Rounded Rectangle 4"/>
          <p:cNvSpPr/>
          <p:nvPr/>
        </p:nvSpPr>
        <p:spPr>
          <a:xfrm>
            <a:off x="548640" y="1097280"/>
            <a:ext cx="5394960" cy="4937760"/>
          </a:xfrm>
          <a:prstGeom prst="roundRect">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261872"/>
            <a:ext cx="411480" cy="411480"/>
          </a:xfrm>
          <a:prstGeom prst="ellipse">
            <a:avLst/>
          </a:prstGeom>
          <a:solidFill>
            <a:srgbClr val="141B2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7" name="TextBox 6"/>
          <p:cNvSpPr txBox="1"/>
          <p:nvPr/>
        </p:nvSpPr>
        <p:spPr>
          <a:xfrm>
            <a:off x="1234440" y="1234440"/>
            <a:ext cx="4572000" cy="4663440"/>
          </a:xfrm>
          <a:prstGeom prst="rect">
            <a:avLst/>
          </a:prstGeom>
          <a:noFill/>
        </p:spPr>
        <p:txBody>
          <a:bodyPr wrap="square">
            <a:spAutoFit/>
          </a:bodyPr>
          <a:lstStyle/>
          <a:p>
            <a:pPr>
              <a:spcAft>
                <a:spcPts val="800"/>
              </a:spcAft>
              <a:defRPr sz="1600" b="1">
                <a:solidFill>
                  <a:srgbClr val="06B6D4"/>
                </a:solidFill>
                <a:latin typeface="Segoe UI"/>
              </a:defRPr>
            </a:pPr>
            <a:r>
              <a:t>Tài liệu khoa học liên quan (1 - 4)</a:t>
            </a:r>
          </a:p>
          <a:p>
            <a:pPr>
              <a:lnSpc>
                <a:spcPct val="115000"/>
              </a:lnSpc>
              <a:spcBef>
                <a:spcPts val="1000"/>
              </a:spcBef>
              <a:spcAft>
                <a:spcPts val="0"/>
              </a:spcAft>
              <a:defRPr sz="1250" b="0" i="0">
                <a:solidFill>
                  <a:srgbClr val="F8FAFC"/>
                </a:solidFill>
                <a:latin typeface="Segoe UI"/>
              </a:defRPr>
            </a:pPr>
            <a:r>
              <a:t>[1] H. Xu et al., "medIKAL: Integrating KGs as Assistants of LLMs for Clinical Diagnosis on EMRs," IEEE TKDE, Feb. 2025.</a:t>
            </a:r>
          </a:p>
          <a:p>
            <a:pPr>
              <a:lnSpc>
                <a:spcPct val="115000"/>
              </a:lnSpc>
              <a:spcBef>
                <a:spcPts val="1000"/>
              </a:spcBef>
              <a:spcAft>
                <a:spcPts val="0"/>
              </a:spcAft>
              <a:defRPr sz="1250" b="0" i="0">
                <a:solidFill>
                  <a:srgbClr val="F8FAFC"/>
                </a:solidFill>
                <a:latin typeface="Segoe UI"/>
              </a:defRPr>
            </a:pPr>
            <a:r>
              <a:t>[2] L. M. Nguyen et al., "Local LLMs Integrated with GraphRAG for Gestational Diabetes Mellitus," Proc. IEEE BIBM, 2025.</a:t>
            </a:r>
          </a:p>
          <a:p>
            <a:pPr>
              <a:lnSpc>
                <a:spcPct val="115000"/>
              </a:lnSpc>
              <a:spcBef>
                <a:spcPts val="1000"/>
              </a:spcBef>
              <a:spcAft>
                <a:spcPts val="0"/>
              </a:spcAft>
              <a:defRPr sz="1250" b="0" i="0">
                <a:solidFill>
                  <a:srgbClr val="F8FAFC"/>
                </a:solidFill>
                <a:latin typeface="Segoe UI"/>
              </a:defRPr>
            </a:pPr>
            <a:r>
              <a:t>[3] X. Li et al., "LLM-Driven KG Construction for Personalized Diabetes Decision Support," IEEE JBHI, May 2024.</a:t>
            </a:r>
          </a:p>
          <a:p>
            <a:pPr>
              <a:lnSpc>
                <a:spcPct val="115000"/>
              </a:lnSpc>
              <a:spcBef>
                <a:spcPts val="1000"/>
              </a:spcBef>
              <a:spcAft>
                <a:spcPts val="0"/>
              </a:spcAft>
              <a:defRPr sz="1250" b="0" i="0">
                <a:solidFill>
                  <a:srgbClr val="F8FAFC"/>
                </a:solidFill>
                <a:latin typeface="Segoe UI"/>
              </a:defRPr>
            </a:pPr>
            <a:r>
              <a:t>[4] Y. Zhang et al., "AutoBioKG: Automated Context-Aware Biomedical KG Construction," IEEE/ACM TCBB, Jan. 2025.</a:t>
            </a:r>
          </a:p>
        </p:txBody>
      </p:sp>
      <p:sp>
        <p:nvSpPr>
          <p:cNvPr id="8" name="Rounded Rectangle 7"/>
          <p:cNvSpPr/>
          <p:nvPr/>
        </p:nvSpPr>
        <p:spPr>
          <a:xfrm>
            <a:off x="6217920" y="1097280"/>
            <a:ext cx="5394960" cy="4937760"/>
          </a:xfrm>
          <a:prstGeom prst="roundRect">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46520" y="1261872"/>
            <a:ext cx="411480" cy="411480"/>
          </a:xfrm>
          <a:prstGeom prst="ellipse">
            <a:avLst/>
          </a:prstGeom>
          <a:solidFill>
            <a:srgbClr val="141B2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500">
                <a:latin typeface="Segoe UI Symbol"/>
              </a:defRPr>
            </a:pPr>
            <a:r>
              <a:t>📚</a:t>
            </a:r>
          </a:p>
        </p:txBody>
      </p:sp>
      <p:sp>
        <p:nvSpPr>
          <p:cNvPr id="10" name="TextBox 9"/>
          <p:cNvSpPr txBox="1"/>
          <p:nvPr/>
        </p:nvSpPr>
        <p:spPr>
          <a:xfrm>
            <a:off x="6903720" y="1234440"/>
            <a:ext cx="4572000" cy="4663440"/>
          </a:xfrm>
          <a:prstGeom prst="rect">
            <a:avLst/>
          </a:prstGeom>
          <a:noFill/>
        </p:spPr>
        <p:txBody>
          <a:bodyPr wrap="square">
            <a:spAutoFit/>
          </a:bodyPr>
          <a:lstStyle/>
          <a:p>
            <a:pPr>
              <a:spcAft>
                <a:spcPts val="800"/>
              </a:spcAft>
              <a:defRPr sz="1600" b="1">
                <a:solidFill>
                  <a:srgbClr val="10B981"/>
                </a:solidFill>
                <a:latin typeface="Segoe UI"/>
              </a:defRPr>
            </a:pPr>
            <a:r>
              <a:t>Tài liệu khoa học liên quan (5 - 8)</a:t>
            </a:r>
          </a:p>
          <a:p>
            <a:pPr>
              <a:lnSpc>
                <a:spcPct val="115000"/>
              </a:lnSpc>
              <a:spcBef>
                <a:spcPts val="1000"/>
              </a:spcBef>
              <a:spcAft>
                <a:spcPts val="0"/>
              </a:spcAft>
              <a:defRPr sz="1250" b="0" i="0">
                <a:solidFill>
                  <a:srgbClr val="F8FAFC"/>
                </a:solidFill>
                <a:latin typeface="Segoe UI"/>
              </a:defRPr>
            </a:pPr>
            <a:r>
              <a:t>[5] E. Zhang &amp; H. Soh, "EDC: Extract-Define-Canonicalize Paradigm for Schema-Constrained KG Construction," EMNLP, Nov. 2024.</a:t>
            </a:r>
          </a:p>
          <a:p>
            <a:pPr>
              <a:lnSpc>
                <a:spcPct val="115000"/>
              </a:lnSpc>
              <a:spcBef>
                <a:spcPts val="1000"/>
              </a:spcBef>
              <a:spcAft>
                <a:spcPts val="0"/>
              </a:spcAft>
              <a:defRPr sz="1250" b="0" i="0">
                <a:solidFill>
                  <a:srgbClr val="F8FAFC"/>
                </a:solidFill>
                <a:latin typeface="Segoe UI"/>
              </a:defRPr>
            </a:pPr>
            <a:r>
              <a:t>[6] M. J. R. Smith &amp; K. L. Johnson, "Multi-Agent Debate &amp; Trust Validation for Clinical KGs," IEEE TNNLS, Mar. 2026.</a:t>
            </a:r>
          </a:p>
          <a:p>
            <a:pPr>
              <a:lnSpc>
                <a:spcPct val="115000"/>
              </a:lnSpc>
              <a:spcBef>
                <a:spcPts val="1000"/>
              </a:spcBef>
              <a:spcAft>
                <a:spcPts val="0"/>
              </a:spcAft>
              <a:defRPr sz="1250" b="0" i="0">
                <a:solidFill>
                  <a:srgbClr val="F8FAFC"/>
                </a:solidFill>
                <a:latin typeface="Segoe UI"/>
              </a:defRPr>
            </a:pPr>
            <a:r>
              <a:t>[7] Y. Du, S. Li et al., "Improving Factuality and Reasoning in LMs through Multiagent Debate," arXiv:2305.14325, 2023.</a:t>
            </a:r>
          </a:p>
          <a:p>
            <a:pPr>
              <a:lnSpc>
                <a:spcPct val="115000"/>
              </a:lnSpc>
              <a:spcBef>
                <a:spcPts val="1000"/>
              </a:spcBef>
              <a:spcAft>
                <a:spcPts val="0"/>
              </a:spcAft>
              <a:defRPr sz="1250" b="0" i="0">
                <a:solidFill>
                  <a:srgbClr val="F8FAFC"/>
                </a:solidFill>
                <a:latin typeface="Segoe UI"/>
              </a:defRPr>
            </a:pPr>
            <a:r>
              <a:t>[8] C.-M. Chan et al., "ChatEval: Towards better LLM-based evaluators through multi-agent debate," ICLR, May 2024.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42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latin typeface="Segoe UI"/>
              </a:defRPr>
            </a:pPr>
            <a:r>
              <a:t>Trường Công Nghệ Số Và Trí Tuệ Nhân Tạo  ·  Trường Đại Học Nam Cần Thơ  ·  2026</a:t>
            </a:r>
          </a:p>
        </p:txBody>
      </p:sp>
      <p:sp>
        <p:nvSpPr>
          <p:cNvPr id="4" name="TextBox 3"/>
          <p:cNvSpPr txBox="1"/>
          <p:nvPr/>
        </p:nvSpPr>
        <p:spPr>
          <a:xfrm>
            <a:off x="1371600" y="2011680"/>
            <a:ext cx="9448495" cy="3657600"/>
          </a:xfrm>
          <a:prstGeom prst="rect">
            <a:avLst/>
          </a:prstGeom>
          <a:noFill/>
        </p:spPr>
        <p:txBody>
          <a:bodyPr wrap="square">
            <a:spAutoFit/>
          </a:bodyPr>
          <a:lstStyle/>
          <a:p>
            <a:pPr algn="ctr">
              <a:defRPr sz="3800" b="1">
                <a:solidFill>
                  <a:srgbClr val="F8FAFC"/>
                </a:solidFill>
                <a:latin typeface="Segoe UI"/>
              </a:defRPr>
            </a:pPr>
            <a:r>
              <a:t>XIN TRÂN TRỌNG CẢM ƠN HỘI ĐỒNG!</a:t>
            </a:r>
          </a:p>
          <a:p>
            <a:pPr algn="ctr">
              <a:spcBef>
                <a:spcPts val="2500"/>
              </a:spcBef>
              <a:defRPr sz="2000">
                <a:solidFill>
                  <a:srgbClr val="94A3B8"/>
                </a:solidFill>
                <a:latin typeface="Segoe UI"/>
              </a:defRPr>
            </a:pPr>
            <a:r>
              <a:t>Kính mong nhận được ý kiến đóng góp của quý Thầy/Cô</a:t>
            </a:r>
            <a:br/>
            <a:r>
              <a:t>để đề cương đăng ký đề tài được hoàn thiện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